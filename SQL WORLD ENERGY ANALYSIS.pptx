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77" r:id="rId3"/>
    <p:sldId id="258" r:id="rId4"/>
    <p:sldId id="260" r:id="rId5"/>
    <p:sldId id="261" r:id="rId6"/>
    <p:sldId id="262" r:id="rId7"/>
    <p:sldId id="263" r:id="rId8"/>
    <p:sldId id="274" r:id="rId9"/>
    <p:sldId id="265" r:id="rId10"/>
    <p:sldId id="266" r:id="rId11"/>
    <p:sldId id="275" r:id="rId12"/>
    <p:sldId id="273" r:id="rId13"/>
    <p:sldId id="276" r:id="rId14"/>
    <p:sldId id="278" r:id="rId15"/>
    <p:sldId id="279" r:id="rId16"/>
    <p:sldId id="280" r:id="rId17"/>
    <p:sldId id="282" r:id="rId18"/>
    <p:sldId id="281" r:id="rId19"/>
    <p:sldId id="283" r:id="rId20"/>
    <p:sldId id="284" r:id="rId21"/>
    <p:sldId id="285" r:id="rId22"/>
    <p:sldId id="268" r:id="rId23"/>
    <p:sldId id="270" r:id="rId24"/>
    <p:sldId id="271" r:id="rId25"/>
    <p:sldId id="272" r:id="rId26"/>
    <p:sldId id="259" r:id="rId27"/>
  </p:sldIdLst>
  <p:sldSz cx="12192000" cy="6858000"/>
  <p:notesSz cx="6858000" cy="9144000"/>
  <p:embeddedFontLst>
    <p:embeddedFont>
      <p:font typeface="Libre Baskerville" panose="02000000000000000000" pitchFamily="2" charset="0"/>
      <p:regular r:id="rId29"/>
      <p:bold r:id="rId30"/>
      <p:italic r:id="rId31"/>
      <p:boldItalic r:id="rId32"/>
    </p:embeddedFont>
    <p:embeddedFont>
      <p:font typeface="Lucida Fax" panose="02060602050505020204" pitchFamily="18"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256" autoAdjust="0"/>
  </p:normalViewPr>
  <p:slideViewPr>
    <p:cSldViewPr snapToGrid="0">
      <p:cViewPr varScale="1">
        <p:scale>
          <a:sx n="82" d="100"/>
          <a:sy n="82" d="100"/>
        </p:scale>
        <p:origin x="69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Calibri" panose="020F0502020204030204" pitchFamily="34" charset="0"/>
                <a:cs typeface="Calibri" panose="020F0502020204030204" pitchFamily="34" charset="0"/>
              </a:rPr>
              <a:t>Why is country-to-emissions a one-to-many relationship?</a:t>
            </a: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Because a single country can have multiple emission records across different years and energy types, while each emission record belongs to only one country. Therefore, one country is related to many emission rows, making the relationship one-to-many.</a:t>
            </a:r>
          </a:p>
          <a:p>
            <a:r>
              <a:rPr lang="en-US" dirty="0">
                <a:latin typeface="Calibri" panose="020F0502020204030204" pitchFamily="34" charset="0"/>
                <a:cs typeface="Calibri" panose="020F0502020204030204" pitchFamily="34" charset="0"/>
              </a:rPr>
              <a:t>The same explanation applies to:</a:t>
            </a:r>
          </a:p>
          <a:p>
            <a:r>
              <a:rPr lang="en-US" dirty="0">
                <a:latin typeface="Calibri" panose="020F0502020204030204" pitchFamily="34" charset="0"/>
                <a:cs typeface="Calibri" panose="020F0502020204030204" pitchFamily="34" charset="0"/>
              </a:rPr>
              <a:t>Country -&gt; GDP </a:t>
            </a:r>
          </a:p>
          <a:p>
            <a:r>
              <a:rPr lang="en-US" dirty="0">
                <a:latin typeface="Calibri" panose="020F0502020204030204" pitchFamily="34" charset="0"/>
                <a:cs typeface="Calibri" panose="020F0502020204030204" pitchFamily="34" charset="0"/>
              </a:rPr>
              <a:t>Country -&gt; Population </a:t>
            </a:r>
          </a:p>
          <a:p>
            <a:r>
              <a:rPr lang="en-US" dirty="0">
                <a:latin typeface="Calibri" panose="020F0502020204030204" pitchFamily="34" charset="0"/>
                <a:cs typeface="Calibri" panose="020F0502020204030204" pitchFamily="34" charset="0"/>
              </a:rPr>
              <a:t>Country -&gt; Production </a:t>
            </a:r>
          </a:p>
          <a:p>
            <a:r>
              <a:rPr lang="en-US" dirty="0">
                <a:latin typeface="Calibri" panose="020F0502020204030204" pitchFamily="34" charset="0"/>
                <a:cs typeface="Calibri" panose="020F0502020204030204" pitchFamily="34" charset="0"/>
              </a:rPr>
              <a:t>Country -&gt;  Consumption  </a:t>
            </a:r>
          </a:p>
          <a:p>
            <a:r>
              <a:rPr lang="en-US" dirty="0">
                <a:latin typeface="Calibri" panose="020F0502020204030204" pitchFamily="34" charset="0"/>
                <a:cs typeface="Calibri" panose="020F0502020204030204" pitchFamily="34" charset="0"/>
              </a:rPr>
              <a:t>All of them store </a:t>
            </a:r>
            <a:r>
              <a:rPr lang="en-US" b="1" dirty="0">
                <a:latin typeface="Calibri" panose="020F0502020204030204" pitchFamily="34" charset="0"/>
                <a:cs typeface="Calibri" panose="020F0502020204030204" pitchFamily="34" charset="0"/>
              </a:rPr>
              <a:t>historical data (multiple years)</a:t>
            </a:r>
            <a:r>
              <a:rPr lang="en-US" dirty="0">
                <a:latin typeface="Calibri" panose="020F0502020204030204" pitchFamily="34" charset="0"/>
                <a:cs typeface="Calibri" panose="020F0502020204030204" pitchFamily="34" charset="0"/>
              </a:rPr>
              <a:t>, so one country maps to many rows.</a:t>
            </a:r>
          </a:p>
          <a:p>
            <a:endParaRPr lang="en-IN"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7</a:t>
            </a:fld>
            <a:endPar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498551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22</a:t>
            </a:fld>
            <a:endPar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2475287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vksrikarp" TargetMode="External"/><Relationship Id="rId2" Type="http://schemas.openxmlformats.org/officeDocument/2006/relationships/hyperlink" Target="https://www.linkedin.com/in/venkata-srikar-potharaju-1746b2218"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srcRect/>
          <a:stretch>
            <a:fillRect/>
          </a:stretch>
        </p:blipFill>
        <p:spPr>
          <a:xfrm>
            <a:off x="592" y="0"/>
            <a:ext cx="12190815" cy="6694098"/>
          </a:xfrm>
          <a:prstGeom prst="rect">
            <a:avLst/>
          </a:prstGeom>
          <a:noFill/>
          <a:ln>
            <a:noFill/>
          </a:ln>
        </p:spPr>
      </p:pic>
      <p:sp>
        <p:nvSpPr>
          <p:cNvPr id="99" name="Google Shape;99;p1"/>
          <p:cNvSpPr txBox="1"/>
          <p:nvPr/>
        </p:nvSpPr>
        <p:spPr>
          <a:xfrm>
            <a:off x="1144905" y="3717925"/>
            <a:ext cx="9494520" cy="706120"/>
          </a:xfrm>
          <a:prstGeom prst="rect">
            <a:avLst/>
          </a:prstGeom>
          <a:noFill/>
          <a:ln>
            <a:noFill/>
          </a:ln>
        </p:spPr>
        <p:txBody>
          <a:bodyPr spcFirstLastPara="1" wrap="square" lIns="91425" tIns="45700" rIns="91425" bIns="45700" anchor="t" anchorCtr="0">
            <a:noAutofit/>
          </a:bodyPr>
          <a:lstStyle/>
          <a:p>
            <a:pPr lvl="0" algn="ctr">
              <a:buSzPts val="1800"/>
            </a:pPr>
            <a:r>
              <a:rPr lang="en-US" sz="3600" u="sng" dirty="0">
                <a:latin typeface="Calibri" panose="020F0502020204030204" pitchFamily="34" charset="0"/>
                <a:cs typeface="Calibri" panose="020F0502020204030204" pitchFamily="34" charset="0"/>
              </a:rPr>
              <a:t>World Wide Energy Consumption Analysis</a:t>
            </a:r>
            <a:endParaRPr lang="en-US" altLang="en-US" sz="4800" b="1" i="0" u="sng" strike="noStrike" cap="none" dirty="0">
              <a:solidFill>
                <a:schemeClr val="dk1"/>
              </a:solidFill>
              <a:latin typeface="Calibri" panose="020F0502020204030204" pitchFamily="34" charset="0"/>
              <a:ea typeface="Calibri" panose="020F0502020204030204"/>
              <a:cs typeface="Calibri" panose="020F0502020204030204" pitchFamily="34" charset="0"/>
              <a:sym typeface="Calibri" panose="020F0502020204030204"/>
            </a:endParaRPr>
          </a:p>
        </p:txBody>
      </p:sp>
      <p:sp>
        <p:nvSpPr>
          <p:cNvPr id="2" name="Text Box 1"/>
          <p:cNvSpPr txBox="1"/>
          <p:nvPr/>
        </p:nvSpPr>
        <p:spPr>
          <a:xfrm>
            <a:off x="8308259" y="5445760"/>
            <a:ext cx="3396062" cy="1015663"/>
          </a:xfrm>
          <a:prstGeom prst="rect">
            <a:avLst/>
          </a:prstGeom>
          <a:noFill/>
        </p:spPr>
        <p:txBody>
          <a:bodyPr wrap="square" rtlCol="0">
            <a:spAutoFit/>
          </a:bodyPr>
          <a:lstStyle/>
          <a:p>
            <a:r>
              <a:rPr lang="en-US" sz="2000" b="1" dirty="0">
                <a:solidFill>
                  <a:srgbClr val="FF0000"/>
                </a:solidFill>
                <a:latin typeface="Calibri" panose="020F0502020204030204" charset="0"/>
                <a:cs typeface="Calibri" panose="020F0502020204030204" charset="0"/>
                <a:sym typeface="+mn-ea"/>
              </a:rPr>
              <a:t>Presented by </a:t>
            </a:r>
            <a:r>
              <a:rPr lang="en-US" sz="2000" b="1" dirty="0">
                <a:latin typeface="Calibri" panose="020F0502020204030204" charset="0"/>
                <a:cs typeface="Calibri" panose="020F0502020204030204" charset="0"/>
                <a:sym typeface="+mn-ea"/>
              </a:rPr>
              <a:t>:</a:t>
            </a:r>
            <a:endParaRPr lang="en-US" sz="2000" b="1" dirty="0">
              <a:latin typeface="Calibri" panose="020F0502020204030204" charset="0"/>
              <a:cs typeface="Calibri" panose="020F0502020204030204" charset="0"/>
            </a:endParaRPr>
          </a:p>
          <a:p>
            <a:r>
              <a:rPr lang="en-IN" sz="2000" b="1" dirty="0">
                <a:latin typeface="Calibri" panose="020F0502020204030204" charset="0"/>
                <a:cs typeface="Calibri" panose="020F0502020204030204" charset="0"/>
                <a:sym typeface="+mn-ea"/>
              </a:rPr>
              <a:t>Venkata Srikar Potharaju</a:t>
            </a:r>
            <a:endParaRPr lang="en-US" sz="2000" b="1" dirty="0">
              <a:latin typeface="Calibri" panose="020F0502020204030204" charset="0"/>
              <a:cs typeface="Calibri" panose="020F0502020204030204" charset="0"/>
            </a:endParaRPr>
          </a:p>
          <a:p>
            <a:r>
              <a:rPr lang="en-US" sz="2000" b="1" dirty="0">
                <a:solidFill>
                  <a:srgbClr val="FF0000"/>
                </a:solidFill>
                <a:latin typeface="Calibri" panose="020F0502020204030204" charset="0"/>
                <a:cs typeface="Calibri" panose="020F0502020204030204" charset="0"/>
                <a:sym typeface="+mn-ea"/>
              </a:rPr>
              <a:t>Batch No </a:t>
            </a:r>
            <a:r>
              <a:rPr lang="en-US" sz="2000" b="1" dirty="0">
                <a:latin typeface="Calibri" panose="020F0502020204030204" charset="0"/>
                <a:cs typeface="Calibri" panose="020F0502020204030204" charset="0"/>
                <a:sym typeface="+mn-ea"/>
              </a:rPr>
              <a:t>: 504</a:t>
            </a:r>
            <a:endParaRPr lang="en-IN" altLang="en-US" sz="2000" dirty="0">
              <a:latin typeface="Calibri" panose="020F0502020204030204" charset="0"/>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1E556-43A8-44BE-084E-EE04C3ECB4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B794D-8B54-C6F0-E11D-A5ECB9DC3B10}"/>
              </a:ext>
            </a:extLst>
          </p:cNvPr>
          <p:cNvSpPr>
            <a:spLocks noGrp="1"/>
          </p:cNvSpPr>
          <p:nvPr>
            <p:ph type="title"/>
          </p:nvPr>
        </p:nvSpPr>
        <p:spPr>
          <a:xfrm>
            <a:off x="1052195" y="577215"/>
            <a:ext cx="10301605" cy="746125"/>
          </a:xfrm>
        </p:spPr>
        <p:txBody>
          <a:bodyPr>
            <a:normAutofit/>
          </a:bodyPr>
          <a:lstStyle/>
          <a:p>
            <a:r>
              <a:rPr lang="en-IN" altLang="en-US" sz="4000" b="1" dirty="0">
                <a:solidFill>
                  <a:srgbClr val="FF0000"/>
                </a:solidFill>
                <a:latin typeface="Arial" panose="020B0604020202020204" pitchFamily="34" charset="0"/>
                <a:cs typeface="Arial" panose="020B0604020202020204" pitchFamily="34" charset="0"/>
              </a:rPr>
              <a:t>About me</a:t>
            </a:r>
          </a:p>
        </p:txBody>
      </p:sp>
      <p:sp>
        <p:nvSpPr>
          <p:cNvPr id="3" name="Text Placeholder 2">
            <a:extLst>
              <a:ext uri="{FF2B5EF4-FFF2-40B4-BE49-F238E27FC236}">
                <a16:creationId xmlns:a16="http://schemas.microsoft.com/office/drawing/2014/main" id="{1A559FC6-A620-F754-D7BA-D83FC79FAFC0}"/>
              </a:ext>
            </a:extLst>
          </p:cNvPr>
          <p:cNvSpPr>
            <a:spLocks noGrp="1"/>
          </p:cNvSpPr>
          <p:nvPr>
            <p:ph type="body" idx="1"/>
          </p:nvPr>
        </p:nvSpPr>
        <p:spPr>
          <a:xfrm>
            <a:off x="838200" y="1678305"/>
            <a:ext cx="10515600" cy="3110005"/>
          </a:xfrm>
        </p:spPr>
        <p:txBody>
          <a:bodyPr>
            <a:normAutofit fontScale="77500" lnSpcReduction="20000"/>
          </a:bodyPr>
          <a:lstStyle/>
          <a:p>
            <a:pPr algn="just">
              <a:lnSpc>
                <a:spcPct val="150000"/>
              </a:lnSpc>
            </a:pPr>
            <a:r>
              <a:rPr lang="en-US" sz="2400" dirty="0">
                <a:latin typeface="Lucida Fax" panose="02060602050505020204" pitchFamily="18" charset="0"/>
              </a:rPr>
              <a:t>My Name is Venkata Srikar Potharaju</a:t>
            </a:r>
          </a:p>
          <a:p>
            <a:pPr algn="just">
              <a:lnSpc>
                <a:spcPct val="150000"/>
              </a:lnSpc>
            </a:pPr>
            <a:r>
              <a:rPr lang="en-US" sz="2400" dirty="0">
                <a:latin typeface="Lucida Fax" panose="02060602050505020204" pitchFamily="18" charset="0"/>
              </a:rPr>
              <a:t>B. Tech, EEE graduate from Vellore Institute of Technology Vellore.</a:t>
            </a:r>
          </a:p>
          <a:p>
            <a:pPr algn="just">
              <a:lnSpc>
                <a:spcPct val="150000"/>
              </a:lnSpc>
            </a:pPr>
            <a:r>
              <a:rPr lang="en-US" sz="2400" dirty="0">
                <a:latin typeface="Lucida Fax" panose="02060602050505020204" pitchFamily="18" charset="0"/>
              </a:rPr>
              <a:t>I worked as an Associate Software Developer and want to change to Data Domain to analyze and draw insights from Data that help in decision making.</a:t>
            </a:r>
          </a:p>
          <a:p>
            <a:pPr algn="just">
              <a:lnSpc>
                <a:spcPct val="150000"/>
              </a:lnSpc>
            </a:pPr>
            <a:r>
              <a:rPr lang="en-US" sz="2400" dirty="0">
                <a:latin typeface="Lucida Fax" panose="02060602050505020204" pitchFamily="18" charset="0"/>
              </a:rPr>
              <a:t>LinkedIn : </a:t>
            </a:r>
            <a:r>
              <a:rPr lang="en-US" sz="2400" dirty="0">
                <a:latin typeface="Lucida Fax" panose="02060602050505020204" pitchFamily="18" charset="0"/>
                <a:hlinkClick r:id="rId2"/>
              </a:rPr>
              <a:t>https://www.linkedin.com/in/venkata-srikar-potharaju-1746b2218</a:t>
            </a:r>
            <a:endParaRPr lang="en-US" sz="2400" dirty="0">
              <a:latin typeface="Lucida Fax" panose="02060602050505020204" pitchFamily="18" charset="0"/>
            </a:endParaRPr>
          </a:p>
          <a:p>
            <a:pPr algn="just">
              <a:lnSpc>
                <a:spcPct val="150000"/>
              </a:lnSpc>
            </a:pPr>
            <a:r>
              <a:rPr lang="en-US" sz="2400" dirty="0">
                <a:latin typeface="Lucida Fax" panose="02060602050505020204" pitchFamily="18" charset="0"/>
              </a:rPr>
              <a:t>GitHub: </a:t>
            </a:r>
            <a:r>
              <a:rPr lang="en-US" sz="2400" dirty="0">
                <a:latin typeface="Lucida Fax" panose="02060602050505020204" pitchFamily="18" charset="0"/>
                <a:hlinkClick r:id="rId3"/>
              </a:rPr>
              <a:t>https://github.com/vksrikarp</a:t>
            </a:r>
            <a:endParaRPr lang="en-US" sz="2400" dirty="0">
              <a:latin typeface="Lucida Fax" panose="02060602050505020204" pitchFamily="18" charset="0"/>
            </a:endParaRPr>
          </a:p>
          <a:p>
            <a:pPr algn="just">
              <a:lnSpc>
                <a:spcPct val="150000"/>
              </a:lnSpc>
            </a:pPr>
            <a:endParaRPr lang="en-US" sz="2400" dirty="0">
              <a:latin typeface="Lucida Fax" panose="02060602050505020204" pitchFamily="18" charset="0"/>
            </a:endParaRPr>
          </a:p>
          <a:p>
            <a:pPr algn="just">
              <a:lnSpc>
                <a:spcPct val="150000"/>
              </a:lnSpc>
            </a:pPr>
            <a:endParaRPr lang="en-US" sz="2400" dirty="0">
              <a:latin typeface="Lucida Fax" panose="02060602050505020204" pitchFamily="18" charset="0"/>
            </a:endParaRPr>
          </a:p>
        </p:txBody>
      </p:sp>
    </p:spTree>
    <p:extLst>
      <p:ext uri="{BB962C8B-B14F-4D97-AF65-F5344CB8AC3E}">
        <p14:creationId xmlns:p14="http://schemas.microsoft.com/office/powerpoint/2010/main" val="728343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390525" y="180340"/>
            <a:ext cx="10333355" cy="9588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panose="020F0502020204030204"/>
              <a:buNone/>
            </a:pPr>
            <a:r>
              <a:rPr lang="en-IN" sz="4000" b="1" dirty="0">
                <a:solidFill>
                  <a:srgbClr val="FF0000"/>
                </a:solidFill>
                <a:latin typeface="Arial" panose="020B0604020202020204" pitchFamily="34" charset="0"/>
                <a:cs typeface="Arial" panose="020B0604020202020204" pitchFamily="34" charset="0"/>
              </a:rPr>
              <a:t>Agenda </a:t>
            </a: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Business Problem</a:t>
            </a:r>
          </a:p>
          <a:p>
            <a:pPr marL="457200" lvl="0" indent="-431800" algn="l" rtl="0">
              <a:lnSpc>
                <a:spcPct val="90000"/>
              </a:lnSpc>
              <a:spcBef>
                <a:spcPts val="1000"/>
              </a:spcBef>
              <a:spcAft>
                <a:spcPts val="0"/>
              </a:spcAft>
              <a:buSzPts val="2400"/>
              <a:buChar char="•"/>
            </a:pPr>
            <a:r>
              <a:rPr lang="en-IN" sz="2400" b="1" dirty="0"/>
              <a:t>Problem Statement</a:t>
            </a:r>
          </a:p>
          <a:p>
            <a:pPr marL="457200" lvl="0" indent="-431800" algn="l" rtl="0">
              <a:lnSpc>
                <a:spcPct val="90000"/>
              </a:lnSpc>
              <a:spcBef>
                <a:spcPts val="1000"/>
              </a:spcBef>
              <a:spcAft>
                <a:spcPts val="0"/>
              </a:spcAft>
              <a:buSzPts val="2400"/>
              <a:buChar char="•"/>
            </a:pPr>
            <a:r>
              <a:rPr lang="en-IN" sz="2400" b="1" dirty="0"/>
              <a:t>Introduction</a:t>
            </a:r>
          </a:p>
          <a:p>
            <a:pPr marL="457200" lvl="0" indent="-431800" algn="l" rtl="0">
              <a:lnSpc>
                <a:spcPct val="90000"/>
              </a:lnSpc>
              <a:spcBef>
                <a:spcPts val="1000"/>
              </a:spcBef>
              <a:spcAft>
                <a:spcPts val="0"/>
              </a:spcAft>
              <a:buSzPts val="2400"/>
              <a:buChar char="•"/>
            </a:pPr>
            <a:r>
              <a:rPr lang="en-IN" sz="2400" b="1" dirty="0"/>
              <a:t>ER Diagram and Schema Explanation</a:t>
            </a:r>
          </a:p>
          <a:p>
            <a:pPr marL="457200" lvl="0" indent="-431800" algn="l" rtl="0">
              <a:lnSpc>
                <a:spcPct val="90000"/>
              </a:lnSpc>
              <a:spcBef>
                <a:spcPts val="1000"/>
              </a:spcBef>
              <a:spcAft>
                <a:spcPts val="0"/>
              </a:spcAft>
              <a:buSzPts val="2400"/>
              <a:buChar char="•"/>
            </a:pPr>
            <a:r>
              <a:rPr lang="en-IN" sz="2400" b="1" dirty="0"/>
              <a:t>SQL Queries Results</a:t>
            </a:r>
          </a:p>
          <a:p>
            <a:pPr marL="457200" lvl="0" indent="-431800" algn="l" rtl="0">
              <a:lnSpc>
                <a:spcPct val="90000"/>
              </a:lnSpc>
              <a:spcBef>
                <a:spcPts val="1000"/>
              </a:spcBef>
              <a:spcAft>
                <a:spcPts val="0"/>
              </a:spcAft>
              <a:buSzPts val="2400"/>
              <a:buChar char="•"/>
            </a:pPr>
            <a:r>
              <a:rPr lang="en-IN" sz="2400" b="1" dirty="0"/>
              <a:t>Business Key Insights</a:t>
            </a:r>
          </a:p>
          <a:p>
            <a:pPr marL="457200" lvl="0" indent="-431800" algn="l" rtl="0">
              <a:lnSpc>
                <a:spcPct val="90000"/>
              </a:lnSpc>
              <a:spcBef>
                <a:spcPts val="1000"/>
              </a:spcBef>
              <a:spcAft>
                <a:spcPts val="0"/>
              </a:spcAft>
              <a:buSzPts val="2400"/>
              <a:buChar char="•"/>
            </a:pPr>
            <a:r>
              <a:rPr lang="en-IN" sz="2400" b="1" dirty="0"/>
              <a:t>Conclusion</a:t>
            </a:r>
          </a:p>
          <a:p>
            <a:pPr marL="457200" lvl="0" indent="-431800" algn="l" rtl="0">
              <a:lnSpc>
                <a:spcPct val="90000"/>
              </a:lnSpc>
              <a:spcBef>
                <a:spcPts val="1000"/>
              </a:spcBef>
              <a:spcAft>
                <a:spcPts val="0"/>
              </a:spcAft>
              <a:buSzPts val="2400"/>
              <a:buChar char="•"/>
            </a:pPr>
            <a:r>
              <a:rPr lang="en-IN" sz="2400" b="1" dirty="0"/>
              <a:t>Recommendations</a:t>
            </a:r>
          </a:p>
          <a:p>
            <a:pPr marL="457200" lvl="0" indent="-431800" algn="l" rtl="0">
              <a:lnSpc>
                <a:spcPct val="90000"/>
              </a:lnSpc>
              <a:spcBef>
                <a:spcPts val="1000"/>
              </a:spcBef>
              <a:spcAft>
                <a:spcPts val="0"/>
              </a:spcAft>
              <a:buSzPts val="2400"/>
              <a:buChar char="•"/>
            </a:pPr>
            <a:r>
              <a:rPr lang="en-IN" sz="2400" b="1" dirty="0"/>
              <a:t>Q &amp; 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2195" y="577215"/>
            <a:ext cx="10301605" cy="746125"/>
          </a:xfrm>
        </p:spPr>
        <p:txBody>
          <a:bodyPr>
            <a:normAutofit/>
          </a:bodyPr>
          <a:lstStyle/>
          <a:p>
            <a:r>
              <a:rPr lang="en-IN" altLang="en-US" sz="4000" b="1">
                <a:solidFill>
                  <a:srgbClr val="FF0000"/>
                </a:solidFill>
                <a:latin typeface="Arial" panose="020B0604020202020204" pitchFamily="34" charset="0"/>
                <a:cs typeface="Arial" panose="020B0604020202020204" pitchFamily="34" charset="0"/>
              </a:rPr>
              <a:t>Business Problem</a:t>
            </a:r>
          </a:p>
        </p:txBody>
      </p:sp>
      <p:sp>
        <p:nvSpPr>
          <p:cNvPr id="3" name="Text Placeholder 2"/>
          <p:cNvSpPr>
            <a:spLocks noGrp="1"/>
          </p:cNvSpPr>
          <p:nvPr>
            <p:ph type="body" idx="1"/>
          </p:nvPr>
        </p:nvSpPr>
        <p:spPr>
          <a:xfrm>
            <a:off x="838200" y="1678305"/>
            <a:ext cx="10515600" cy="3936432"/>
          </a:xfrm>
        </p:spPr>
        <p:txBody>
          <a:bodyPr>
            <a:noAutofit/>
          </a:bodyPr>
          <a:lstStyle/>
          <a:p>
            <a:pPr>
              <a:lnSpc>
                <a:spcPct val="170000"/>
              </a:lnSpc>
            </a:pPr>
            <a:r>
              <a:rPr lang="en-US" sz="2000" dirty="0">
                <a:latin typeface="Lucida Fax" panose="02060602050505020204" pitchFamily="18" charset="0"/>
              </a:rPr>
              <a:t>Organizations, governments, and international energy agencies need to understand how energy consumption, energy production, economic growth, population growth, and carbon emissions are interconnected across countries. Without a data-driven understanding of these relationships, it becomes difficult to formulate sustainable energy policies, forecast future energy demand, reduce carbon emissions, and balance economic growth with environmental responsibility across countries.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4415" y="365125"/>
            <a:ext cx="10319385" cy="965200"/>
          </a:xfrm>
        </p:spPr>
        <p:txBody>
          <a:bodyPr/>
          <a:lstStyle/>
          <a:p>
            <a:r>
              <a:rPr lang="en-IN" altLang="en-US" sz="4000" b="1">
                <a:solidFill>
                  <a:srgbClr val="FF0000"/>
                </a:solidFill>
                <a:latin typeface="Arial" panose="020B0604020202020204" pitchFamily="34" charset="0"/>
                <a:cs typeface="Arial" panose="020B0604020202020204" pitchFamily="34" charset="0"/>
              </a:rPr>
              <a:t>Problem Statement</a:t>
            </a:r>
          </a:p>
        </p:txBody>
      </p:sp>
      <p:sp>
        <p:nvSpPr>
          <p:cNvPr id="3" name="Text Placeholder 2"/>
          <p:cNvSpPr>
            <a:spLocks noGrp="1"/>
          </p:cNvSpPr>
          <p:nvPr>
            <p:ph type="body" idx="1"/>
          </p:nvPr>
        </p:nvSpPr>
        <p:spPr>
          <a:xfrm>
            <a:off x="838200" y="1732915"/>
            <a:ext cx="10515600" cy="4444365"/>
          </a:xfrm>
        </p:spPr>
        <p:txBody>
          <a:bodyPr>
            <a:normAutofit/>
          </a:bodyPr>
          <a:lstStyle/>
          <a:p>
            <a:pPr algn="just">
              <a:lnSpc>
                <a:spcPct val="150000"/>
              </a:lnSpc>
            </a:pPr>
            <a:r>
              <a:rPr lang="en-US" sz="2000" dirty="0">
                <a:latin typeface="Lucida Fax" panose="02060602050505020204" pitchFamily="18" charset="0"/>
              </a:rPr>
              <a:t>Analyze worldwide energy data to evaluate the relationship between energy consumption, energy production, types of emissions, GDP, and population growth across countries and years. The objective is to identify major contributors to global emissions, measure energy efficiency through per-capita and GDP-based metrics, analyze long-term trends, and generate insights that can support sustainable energy planning and policy-making.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6475" y="365125"/>
            <a:ext cx="10347325" cy="587375"/>
          </a:xfrm>
        </p:spPr>
        <p:txBody>
          <a:bodyPr>
            <a:normAutofit fontScale="90000"/>
          </a:bodyPr>
          <a:lstStyle/>
          <a:p>
            <a:r>
              <a:rPr lang="en-IN" altLang="en-US" sz="4445" b="1">
                <a:solidFill>
                  <a:srgbClr val="FF0000"/>
                </a:solidFill>
                <a:latin typeface="Arial" panose="020B0604020202020204" pitchFamily="34" charset="0"/>
                <a:cs typeface="Arial" panose="020B0604020202020204" pitchFamily="34" charset="0"/>
              </a:rPr>
              <a:t>Introduction</a:t>
            </a:r>
          </a:p>
        </p:txBody>
      </p:sp>
      <p:sp>
        <p:nvSpPr>
          <p:cNvPr id="3" name="Text Placeholder 2"/>
          <p:cNvSpPr>
            <a:spLocks noGrp="1"/>
          </p:cNvSpPr>
          <p:nvPr>
            <p:ph type="body" idx="1"/>
          </p:nvPr>
        </p:nvSpPr>
        <p:spPr>
          <a:xfrm>
            <a:off x="572729" y="952500"/>
            <a:ext cx="10515600" cy="5598795"/>
          </a:xfrm>
        </p:spPr>
        <p:txBody>
          <a:bodyPr>
            <a:noAutofit/>
          </a:bodyPr>
          <a:lstStyle/>
          <a:p>
            <a:pPr>
              <a:lnSpc>
                <a:spcPct val="150000"/>
              </a:lnSpc>
            </a:pPr>
            <a:r>
              <a:rPr lang="en-US" sz="1800" dirty="0">
                <a:latin typeface="Lucida Fax" panose="02060602050505020204" pitchFamily="18" charset="0"/>
              </a:rPr>
              <a:t>Energy plays a critical role in economic development and societal progress. As countries expand industrial activities and populations grow, the demand for energy increases significantly. However, increased energy consumption often leads to higher carbon emissions, creating environmental challenges.</a:t>
            </a:r>
          </a:p>
          <a:p>
            <a:pPr>
              <a:lnSpc>
                <a:spcPct val="150000"/>
              </a:lnSpc>
            </a:pPr>
            <a:r>
              <a:rPr lang="en-US" sz="1800" dirty="0">
                <a:latin typeface="Lucida Fax" panose="02060602050505020204" pitchFamily="18" charset="0"/>
              </a:rPr>
              <a:t>This project analyzes global energy consumption data collected across multiple countries and years. Using SQL-based analytical techniques, the study examines energy production, consumption, emissions, GDP, and population trends. </a:t>
            </a:r>
          </a:p>
          <a:p>
            <a:pPr>
              <a:lnSpc>
                <a:spcPct val="150000"/>
              </a:lnSpc>
            </a:pPr>
            <a:r>
              <a:rPr lang="en-US" sz="1800" dirty="0">
                <a:latin typeface="Lucida Fax" panose="02060602050505020204" pitchFamily="18" charset="0"/>
              </a:rPr>
              <a:t>The analysis aims to uncover patterns in energy usage, identify emission-intensive energy sources, evaluate the relationship between economic growth and energy demand, and compare countries based on energy efficiency and sustainability indicators.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8140" y="365125"/>
            <a:ext cx="9725660" cy="678180"/>
          </a:xfrm>
        </p:spPr>
        <p:txBody>
          <a:bodyPr>
            <a:normAutofit fontScale="90000"/>
          </a:bodyPr>
          <a:lstStyle/>
          <a:p>
            <a:r>
              <a:rPr lang="en-IN" b="1" dirty="0">
                <a:solidFill>
                  <a:srgbClr val="FF0000"/>
                </a:solidFill>
                <a:latin typeface="Arial" panose="020B0604020202020204" pitchFamily="34" charset="0"/>
                <a:cs typeface="Arial" panose="020B0604020202020204" pitchFamily="34" charset="0"/>
                <a:sym typeface="+mn-ea"/>
              </a:rPr>
              <a:t>ER Diagram and Schema Explanation</a:t>
            </a:r>
            <a:endParaRPr lang="en-US"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ABBFF01D-5462-4E85-7240-19D79C3B1E26}"/>
              </a:ext>
            </a:extLst>
          </p:cNvPr>
          <p:cNvPicPr>
            <a:picLocks noChangeAspect="1"/>
          </p:cNvPicPr>
          <p:nvPr/>
        </p:nvPicPr>
        <p:blipFill>
          <a:blip r:embed="rId3"/>
          <a:srcRect/>
          <a:stretch/>
        </p:blipFill>
        <p:spPr>
          <a:xfrm>
            <a:off x="253292" y="1407099"/>
            <a:ext cx="5607108" cy="4454963"/>
          </a:xfrm>
          <a:prstGeom prst="rect">
            <a:avLst/>
          </a:prstGeom>
        </p:spPr>
      </p:pic>
      <p:graphicFrame>
        <p:nvGraphicFramePr>
          <p:cNvPr id="8" name="Table 7">
            <a:extLst>
              <a:ext uri="{FF2B5EF4-FFF2-40B4-BE49-F238E27FC236}">
                <a16:creationId xmlns:a16="http://schemas.microsoft.com/office/drawing/2014/main" id="{2205B602-78BF-52E9-625D-9AF171D5ACA1}"/>
              </a:ext>
            </a:extLst>
          </p:cNvPr>
          <p:cNvGraphicFramePr>
            <a:graphicFrameLocks noGrp="1"/>
          </p:cNvGraphicFramePr>
          <p:nvPr>
            <p:extLst>
              <p:ext uri="{D42A27DB-BD31-4B8C-83A1-F6EECF244321}">
                <p14:modId xmlns:p14="http://schemas.microsoft.com/office/powerpoint/2010/main" val="2807372368"/>
              </p:ext>
            </p:extLst>
          </p:nvPr>
        </p:nvGraphicFramePr>
        <p:xfrm>
          <a:off x="6253318" y="1407099"/>
          <a:ext cx="5763675" cy="3270494"/>
        </p:xfrm>
        <a:graphic>
          <a:graphicData uri="http://schemas.openxmlformats.org/drawingml/2006/table">
            <a:tbl>
              <a:tblPr>
                <a:tableStyleId>{35758FB7-9AC5-4552-8A53-C91805E547FA}</a:tableStyleId>
              </a:tblPr>
              <a:tblGrid>
                <a:gridCol w="1921225">
                  <a:extLst>
                    <a:ext uri="{9D8B030D-6E8A-4147-A177-3AD203B41FA5}">
                      <a16:colId xmlns:a16="http://schemas.microsoft.com/office/drawing/2014/main" val="2438390896"/>
                    </a:ext>
                  </a:extLst>
                </a:gridCol>
                <a:gridCol w="1921225">
                  <a:extLst>
                    <a:ext uri="{9D8B030D-6E8A-4147-A177-3AD203B41FA5}">
                      <a16:colId xmlns:a16="http://schemas.microsoft.com/office/drawing/2014/main" val="352709927"/>
                    </a:ext>
                  </a:extLst>
                </a:gridCol>
                <a:gridCol w="1921225">
                  <a:extLst>
                    <a:ext uri="{9D8B030D-6E8A-4147-A177-3AD203B41FA5}">
                      <a16:colId xmlns:a16="http://schemas.microsoft.com/office/drawing/2014/main" val="2977378948"/>
                    </a:ext>
                  </a:extLst>
                </a:gridCol>
              </a:tblGrid>
              <a:tr h="470862">
                <a:tc>
                  <a:txBody>
                    <a:bodyPr/>
                    <a:lstStyle/>
                    <a:p>
                      <a:pPr>
                        <a:buNone/>
                      </a:pPr>
                      <a:r>
                        <a:rPr lang="en-IN" sz="1600" dirty="0">
                          <a:latin typeface="Calibri" panose="020F0502020204030204" pitchFamily="34" charset="0"/>
                          <a:cs typeface="Calibri" panose="020F0502020204030204" pitchFamily="34" charset="0"/>
                        </a:rPr>
                        <a:t>Parent Table</a:t>
                      </a:r>
                    </a:p>
                  </a:txBody>
                  <a:tcPr anchor="ctr"/>
                </a:tc>
                <a:tc>
                  <a:txBody>
                    <a:bodyPr/>
                    <a:lstStyle/>
                    <a:p>
                      <a:pPr>
                        <a:buNone/>
                      </a:pPr>
                      <a:r>
                        <a:rPr lang="en-IN" sz="1600">
                          <a:latin typeface="Calibri" panose="020F0502020204030204" pitchFamily="34" charset="0"/>
                          <a:cs typeface="Calibri" panose="020F0502020204030204" pitchFamily="34" charset="0"/>
                        </a:rPr>
                        <a:t>Child Table</a:t>
                      </a:r>
                    </a:p>
                  </a:txBody>
                  <a:tcPr anchor="ctr"/>
                </a:tc>
                <a:tc>
                  <a:txBody>
                    <a:bodyPr/>
                    <a:lstStyle/>
                    <a:p>
                      <a:pPr>
                        <a:buNone/>
                      </a:pPr>
                      <a:r>
                        <a:rPr lang="en-IN" sz="1600">
                          <a:latin typeface="Calibri" panose="020F0502020204030204" pitchFamily="34" charset="0"/>
                          <a:cs typeface="Calibri" panose="020F0502020204030204" pitchFamily="34" charset="0"/>
                        </a:rPr>
                        <a:t>Cardinality</a:t>
                      </a:r>
                    </a:p>
                  </a:txBody>
                  <a:tcPr anchor="ctr"/>
                </a:tc>
                <a:extLst>
                  <a:ext uri="{0D108BD9-81ED-4DB2-BD59-A6C34878D82A}">
                    <a16:rowId xmlns:a16="http://schemas.microsoft.com/office/drawing/2014/main" val="2157794737"/>
                  </a:ext>
                </a:extLst>
              </a:tr>
              <a:tr h="442452">
                <a:tc>
                  <a:txBody>
                    <a:bodyPr/>
                    <a:lstStyle/>
                    <a:p>
                      <a:pPr>
                        <a:buNone/>
                      </a:pPr>
                      <a:r>
                        <a:rPr lang="en-IN" sz="1600" dirty="0">
                          <a:latin typeface="Calibri" panose="020F0502020204030204" pitchFamily="34" charset="0"/>
                          <a:cs typeface="Calibri" panose="020F0502020204030204" pitchFamily="34" charset="0"/>
                        </a:rPr>
                        <a:t>Country</a:t>
                      </a:r>
                    </a:p>
                  </a:txBody>
                  <a:tcPr anchor="ctr"/>
                </a:tc>
                <a:tc>
                  <a:txBody>
                    <a:bodyPr/>
                    <a:lstStyle/>
                    <a:p>
                      <a:pPr>
                        <a:buNone/>
                      </a:pPr>
                      <a:r>
                        <a:rPr lang="en-IN" sz="1600" dirty="0">
                          <a:latin typeface="Calibri" panose="020F0502020204030204" pitchFamily="34" charset="0"/>
                          <a:cs typeface="Calibri" panose="020F0502020204030204" pitchFamily="34" charset="0"/>
                        </a:rPr>
                        <a:t>Emissions</a:t>
                      </a:r>
                    </a:p>
                  </a:txBody>
                  <a:tcPr anchor="ctr"/>
                </a:tc>
                <a:tc>
                  <a:txBody>
                    <a:bodyPr/>
                    <a:lstStyle/>
                    <a:p>
                      <a:pPr>
                        <a:buNone/>
                      </a:pPr>
                      <a:r>
                        <a:rPr lang="en-IN" sz="1600" b="1">
                          <a:latin typeface="Calibri" panose="020F0502020204030204" pitchFamily="34" charset="0"/>
                          <a:cs typeface="Calibri" panose="020F0502020204030204" pitchFamily="34" charset="0"/>
                        </a:rPr>
                        <a:t>1 : Many (1:N)</a:t>
                      </a:r>
                      <a:endParaRPr lang="en-IN" sz="160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893284857"/>
                  </a:ext>
                </a:extLst>
              </a:tr>
              <a:tr h="589295">
                <a:tc>
                  <a:txBody>
                    <a:bodyPr/>
                    <a:lstStyle/>
                    <a:p>
                      <a:pPr>
                        <a:buNone/>
                      </a:pPr>
                      <a:r>
                        <a:rPr lang="en-IN" sz="1600" dirty="0">
                          <a:latin typeface="Calibri" panose="020F0502020204030204" pitchFamily="34" charset="0"/>
                          <a:cs typeface="Calibri" panose="020F0502020204030204" pitchFamily="34" charset="0"/>
                        </a:rPr>
                        <a:t>Country</a:t>
                      </a:r>
                    </a:p>
                  </a:txBody>
                  <a:tcPr anchor="ctr"/>
                </a:tc>
                <a:tc>
                  <a:txBody>
                    <a:bodyPr/>
                    <a:lstStyle/>
                    <a:p>
                      <a:pPr>
                        <a:buNone/>
                      </a:pPr>
                      <a:r>
                        <a:rPr lang="en-IN" sz="1600" dirty="0">
                          <a:latin typeface="Calibri" panose="020F0502020204030204" pitchFamily="34" charset="0"/>
                          <a:cs typeface="Calibri" panose="020F0502020204030204" pitchFamily="34" charset="0"/>
                        </a:rPr>
                        <a:t>Production</a:t>
                      </a:r>
                    </a:p>
                  </a:txBody>
                  <a:tcPr anchor="ctr"/>
                </a:tc>
                <a:tc>
                  <a:txBody>
                    <a:bodyPr/>
                    <a:lstStyle/>
                    <a:p>
                      <a:pPr>
                        <a:buNone/>
                      </a:pPr>
                      <a:r>
                        <a:rPr lang="en-IN" sz="1600" b="1" dirty="0">
                          <a:latin typeface="Calibri" panose="020F0502020204030204" pitchFamily="34" charset="0"/>
                          <a:cs typeface="Calibri" panose="020F0502020204030204" pitchFamily="34" charset="0"/>
                        </a:rPr>
                        <a:t>1 : Many (1:N)</a:t>
                      </a:r>
                      <a:endParaRPr lang="en-IN" sz="16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770217253"/>
                  </a:ext>
                </a:extLst>
              </a:tr>
              <a:tr h="589295">
                <a:tc>
                  <a:txBody>
                    <a:bodyPr/>
                    <a:lstStyle/>
                    <a:p>
                      <a:pPr>
                        <a:buNone/>
                      </a:pPr>
                      <a:r>
                        <a:rPr lang="en-IN" sz="1600" dirty="0">
                          <a:latin typeface="Calibri" panose="020F0502020204030204" pitchFamily="34" charset="0"/>
                          <a:cs typeface="Calibri" panose="020F0502020204030204" pitchFamily="34" charset="0"/>
                        </a:rPr>
                        <a:t>Country</a:t>
                      </a:r>
                    </a:p>
                  </a:txBody>
                  <a:tcPr anchor="ctr"/>
                </a:tc>
                <a:tc>
                  <a:txBody>
                    <a:bodyPr/>
                    <a:lstStyle/>
                    <a:p>
                      <a:pPr>
                        <a:buNone/>
                      </a:pPr>
                      <a:r>
                        <a:rPr lang="en-IN" sz="1600" dirty="0">
                          <a:latin typeface="Calibri" panose="020F0502020204030204" pitchFamily="34" charset="0"/>
                          <a:cs typeface="Calibri" panose="020F0502020204030204" pitchFamily="34" charset="0"/>
                        </a:rPr>
                        <a:t>Consumption</a:t>
                      </a:r>
                    </a:p>
                  </a:txBody>
                  <a:tcPr anchor="ctr"/>
                </a:tc>
                <a:tc>
                  <a:txBody>
                    <a:bodyPr/>
                    <a:lstStyle/>
                    <a:p>
                      <a:pPr>
                        <a:buNone/>
                      </a:pPr>
                      <a:r>
                        <a:rPr lang="en-IN" sz="1600" b="1" dirty="0">
                          <a:latin typeface="Calibri" panose="020F0502020204030204" pitchFamily="34" charset="0"/>
                          <a:cs typeface="Calibri" panose="020F0502020204030204" pitchFamily="34" charset="0"/>
                        </a:rPr>
                        <a:t>1 : Many (1:N)</a:t>
                      </a:r>
                      <a:endParaRPr lang="en-IN" sz="16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439855478"/>
                  </a:ext>
                </a:extLst>
              </a:tr>
              <a:tr h="589295">
                <a:tc>
                  <a:txBody>
                    <a:bodyPr/>
                    <a:lstStyle/>
                    <a:p>
                      <a:pPr>
                        <a:buNone/>
                      </a:pPr>
                      <a:r>
                        <a:rPr lang="en-IN" sz="1600" dirty="0">
                          <a:latin typeface="Calibri" panose="020F0502020204030204" pitchFamily="34" charset="0"/>
                          <a:cs typeface="Calibri" panose="020F0502020204030204" pitchFamily="34" charset="0"/>
                        </a:rPr>
                        <a:t>Country</a:t>
                      </a:r>
                    </a:p>
                  </a:txBody>
                  <a:tcPr anchor="ctr"/>
                </a:tc>
                <a:tc>
                  <a:txBody>
                    <a:bodyPr/>
                    <a:lstStyle/>
                    <a:p>
                      <a:pPr>
                        <a:buNone/>
                      </a:pPr>
                      <a:r>
                        <a:rPr lang="en-IN" sz="1600" dirty="0">
                          <a:latin typeface="Calibri" panose="020F0502020204030204" pitchFamily="34" charset="0"/>
                          <a:cs typeface="Calibri" panose="020F0502020204030204" pitchFamily="34" charset="0"/>
                        </a:rPr>
                        <a:t>Population</a:t>
                      </a:r>
                    </a:p>
                  </a:txBody>
                  <a:tcPr anchor="ctr"/>
                </a:tc>
                <a:tc>
                  <a:txBody>
                    <a:bodyPr/>
                    <a:lstStyle/>
                    <a:p>
                      <a:pPr>
                        <a:buNone/>
                      </a:pPr>
                      <a:r>
                        <a:rPr lang="en-IN" sz="1600" b="1" dirty="0">
                          <a:latin typeface="Calibri" panose="020F0502020204030204" pitchFamily="34" charset="0"/>
                          <a:cs typeface="Calibri" panose="020F0502020204030204" pitchFamily="34" charset="0"/>
                        </a:rPr>
                        <a:t>1 : Many (1:N)</a:t>
                      </a:r>
                      <a:endParaRPr lang="en-IN" sz="16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833997338"/>
                  </a:ext>
                </a:extLst>
              </a:tr>
              <a:tr h="589295">
                <a:tc>
                  <a:txBody>
                    <a:bodyPr/>
                    <a:lstStyle/>
                    <a:p>
                      <a:pPr>
                        <a:buNone/>
                      </a:pPr>
                      <a:r>
                        <a:rPr lang="en-IN" sz="1600" dirty="0">
                          <a:latin typeface="Calibri" panose="020F0502020204030204" pitchFamily="34" charset="0"/>
                          <a:cs typeface="Calibri" panose="020F0502020204030204" pitchFamily="34" charset="0"/>
                        </a:rPr>
                        <a:t>Country</a:t>
                      </a:r>
                    </a:p>
                  </a:txBody>
                  <a:tcPr anchor="ctr"/>
                </a:tc>
                <a:tc>
                  <a:txBody>
                    <a:bodyPr/>
                    <a:lstStyle/>
                    <a:p>
                      <a:pPr>
                        <a:buNone/>
                      </a:pPr>
                      <a:r>
                        <a:rPr lang="en-US" sz="1600" dirty="0">
                          <a:latin typeface="Calibri" panose="020F0502020204030204" pitchFamily="34" charset="0"/>
                          <a:cs typeface="Calibri" panose="020F0502020204030204" pitchFamily="34" charset="0"/>
                        </a:rPr>
                        <a:t>G</a:t>
                      </a:r>
                      <a:r>
                        <a:rPr lang="en-IN" sz="1600" dirty="0">
                          <a:latin typeface="Calibri" panose="020F0502020204030204" pitchFamily="34" charset="0"/>
                          <a:cs typeface="Calibri" panose="020F0502020204030204" pitchFamily="34" charset="0"/>
                        </a:rPr>
                        <a:t>DP</a:t>
                      </a:r>
                    </a:p>
                  </a:txBody>
                  <a:tcPr anchor="ctr"/>
                </a:tc>
                <a:tc>
                  <a:txBody>
                    <a:bodyPr/>
                    <a:lstStyle/>
                    <a:p>
                      <a:pPr>
                        <a:buNone/>
                      </a:pPr>
                      <a:r>
                        <a:rPr lang="en-IN" sz="1600" b="1" dirty="0">
                          <a:latin typeface="Calibri" panose="020F0502020204030204" pitchFamily="34" charset="0"/>
                          <a:cs typeface="Calibri" panose="020F0502020204030204" pitchFamily="34" charset="0"/>
                        </a:rPr>
                        <a:t>1 : Many (1:N)</a:t>
                      </a:r>
                      <a:endParaRPr lang="en-IN" sz="16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8714676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8330"/>
          </a:xfrm>
        </p:spPr>
        <p:txBody>
          <a:bodyPr>
            <a:normAutofit fontScale="90000"/>
          </a:bodyPr>
          <a:lstStyle/>
          <a:p>
            <a:r>
              <a:rPr lang="en-IN" b="1" dirty="0">
                <a:solidFill>
                  <a:srgbClr val="FF0000"/>
                </a:solidFill>
                <a:latin typeface="Arial" panose="020B0604020202020204" pitchFamily="34" charset="0"/>
                <a:cs typeface="Arial" panose="020B0604020202020204" pitchFamily="34" charset="0"/>
                <a:sym typeface="+mn-ea"/>
              </a:rPr>
              <a:t>SQL Queries Results</a:t>
            </a:r>
          </a:p>
        </p:txBody>
      </p:sp>
      <p:sp>
        <p:nvSpPr>
          <p:cNvPr id="3" name="TextBox 2">
            <a:extLst>
              <a:ext uri="{FF2B5EF4-FFF2-40B4-BE49-F238E27FC236}">
                <a16:creationId xmlns:a16="http://schemas.microsoft.com/office/drawing/2014/main" id="{D4A6FDC3-E3F0-59E2-3FF9-10D2FE31BBEB}"/>
              </a:ext>
            </a:extLst>
          </p:cNvPr>
          <p:cNvSpPr txBox="1"/>
          <p:nvPr/>
        </p:nvSpPr>
        <p:spPr>
          <a:xfrm>
            <a:off x="838199" y="1258528"/>
            <a:ext cx="9605211" cy="400110"/>
          </a:xfrm>
          <a:prstGeom prst="rect">
            <a:avLst/>
          </a:prstGeom>
          <a:noFill/>
        </p:spPr>
        <p:txBody>
          <a:bodyPr wrap="square" rtlCol="0">
            <a:spAutoFit/>
          </a:bodyPr>
          <a:lstStyle/>
          <a:p>
            <a:r>
              <a:rPr lang="en-IN" sz="2000" b="1" dirty="0">
                <a:latin typeface="Lucida Fax" panose="02060602050505020204" pitchFamily="18" charset="0"/>
              </a:rPr>
              <a:t>01. T</a:t>
            </a:r>
            <a:r>
              <a:rPr lang="en-US" sz="2000" b="1" dirty="0" err="1">
                <a:latin typeface="Lucida Fax" panose="02060602050505020204" pitchFamily="18" charset="0"/>
              </a:rPr>
              <a:t>otal</a:t>
            </a:r>
            <a:r>
              <a:rPr lang="en-US" sz="2000" b="1" dirty="0">
                <a:latin typeface="Lucida Fax" panose="02060602050505020204" pitchFamily="18" charset="0"/>
              </a:rPr>
              <a:t> emission per country for the most recent year available? </a:t>
            </a:r>
            <a:endParaRPr lang="en-IN" sz="2000" b="1" u="sng" dirty="0">
              <a:latin typeface="Lucida Fax" panose="02060602050505020204" pitchFamily="18" charset="0"/>
            </a:endParaRPr>
          </a:p>
        </p:txBody>
      </p:sp>
      <p:pic>
        <p:nvPicPr>
          <p:cNvPr id="6" name="Picture 5">
            <a:extLst>
              <a:ext uri="{FF2B5EF4-FFF2-40B4-BE49-F238E27FC236}">
                <a16:creationId xmlns:a16="http://schemas.microsoft.com/office/drawing/2014/main" id="{54C5FE46-410B-FE21-0287-23B4F03C4F96}"/>
              </a:ext>
            </a:extLst>
          </p:cNvPr>
          <p:cNvPicPr>
            <a:picLocks noChangeAspect="1"/>
          </p:cNvPicPr>
          <p:nvPr/>
        </p:nvPicPr>
        <p:blipFill>
          <a:blip r:embed="rId2"/>
          <a:srcRect t="24281" r="40714"/>
          <a:stretch>
            <a:fillRect/>
          </a:stretch>
        </p:blipFill>
        <p:spPr>
          <a:xfrm>
            <a:off x="749423" y="2663300"/>
            <a:ext cx="5167543" cy="1846555"/>
          </a:xfrm>
          <a:prstGeom prst="rect">
            <a:avLst/>
          </a:prstGeom>
        </p:spPr>
      </p:pic>
      <p:pic>
        <p:nvPicPr>
          <p:cNvPr id="10" name="Picture 9">
            <a:extLst>
              <a:ext uri="{FF2B5EF4-FFF2-40B4-BE49-F238E27FC236}">
                <a16:creationId xmlns:a16="http://schemas.microsoft.com/office/drawing/2014/main" id="{43AAF72D-9DF3-66A4-D081-3DA9104B9D08}"/>
              </a:ext>
            </a:extLst>
          </p:cNvPr>
          <p:cNvPicPr>
            <a:picLocks noChangeAspect="1"/>
          </p:cNvPicPr>
          <p:nvPr/>
        </p:nvPicPr>
        <p:blipFill>
          <a:blip r:embed="rId3"/>
          <a:srcRect/>
          <a:stretch/>
        </p:blipFill>
        <p:spPr>
          <a:xfrm>
            <a:off x="6376636" y="2050585"/>
            <a:ext cx="4755687" cy="3548887"/>
          </a:xfrm>
          <a:prstGeom prst="rect">
            <a:avLst/>
          </a:prstGeom>
          <a:ln w="28575">
            <a:solidFill>
              <a:schemeClr val="tx1"/>
            </a:solidFill>
            <a:prstDash val="lgDash"/>
          </a:ln>
        </p:spPr>
      </p:pic>
    </p:spTree>
    <p:extLst>
      <p:ext uri="{BB962C8B-B14F-4D97-AF65-F5344CB8AC3E}">
        <p14:creationId xmlns:p14="http://schemas.microsoft.com/office/powerpoint/2010/main" val="2496604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A8B6655-ED38-034B-065F-9523B691FA07}"/>
              </a:ext>
            </a:extLst>
          </p:cNvPr>
          <p:cNvSpPr txBox="1"/>
          <p:nvPr/>
        </p:nvSpPr>
        <p:spPr>
          <a:xfrm>
            <a:off x="857865" y="393290"/>
            <a:ext cx="8815524" cy="400110"/>
          </a:xfrm>
          <a:prstGeom prst="rect">
            <a:avLst/>
          </a:prstGeom>
          <a:noFill/>
        </p:spPr>
        <p:txBody>
          <a:bodyPr wrap="square" rtlCol="0">
            <a:spAutoFit/>
          </a:bodyPr>
          <a:lstStyle/>
          <a:p>
            <a:r>
              <a:rPr lang="en-IN" sz="2000" b="1" dirty="0">
                <a:latin typeface="Lucida Fax" panose="02060602050505020204" pitchFamily="18" charset="0"/>
              </a:rPr>
              <a:t>02. </a:t>
            </a:r>
            <a:r>
              <a:rPr lang="en-US" sz="2000" b="1" dirty="0">
                <a:latin typeface="Lucida Fax" panose="02060602050505020204" pitchFamily="18" charset="0"/>
              </a:rPr>
              <a:t>Top 5 countries by GDP in the most recent year</a:t>
            </a:r>
            <a:endParaRPr lang="en-IN" sz="2000" b="1" dirty="0">
              <a:latin typeface="Lucida Fax" panose="02060602050505020204" pitchFamily="18" charset="0"/>
            </a:endParaRPr>
          </a:p>
        </p:txBody>
      </p:sp>
      <p:pic>
        <p:nvPicPr>
          <p:cNvPr id="10" name="Picture 9">
            <a:extLst>
              <a:ext uri="{FF2B5EF4-FFF2-40B4-BE49-F238E27FC236}">
                <a16:creationId xmlns:a16="http://schemas.microsoft.com/office/drawing/2014/main" id="{C41268B1-68DD-E56C-9A5F-70BF950B0FB4}"/>
              </a:ext>
            </a:extLst>
          </p:cNvPr>
          <p:cNvPicPr>
            <a:picLocks noChangeAspect="1"/>
          </p:cNvPicPr>
          <p:nvPr/>
        </p:nvPicPr>
        <p:blipFill>
          <a:blip r:embed="rId2"/>
          <a:srcRect/>
          <a:stretch/>
        </p:blipFill>
        <p:spPr>
          <a:xfrm>
            <a:off x="6096000" y="1558120"/>
            <a:ext cx="5084580" cy="3362069"/>
          </a:xfrm>
          <a:prstGeom prst="rect">
            <a:avLst/>
          </a:prstGeom>
          <a:ln w="28575">
            <a:solidFill>
              <a:schemeClr val="tx1"/>
            </a:solidFill>
            <a:prstDash val="dash"/>
          </a:ln>
        </p:spPr>
      </p:pic>
      <p:pic>
        <p:nvPicPr>
          <p:cNvPr id="12" name="Picture 11">
            <a:extLst>
              <a:ext uri="{FF2B5EF4-FFF2-40B4-BE49-F238E27FC236}">
                <a16:creationId xmlns:a16="http://schemas.microsoft.com/office/drawing/2014/main" id="{0030EDC9-0370-C232-20C7-1CCEBA5B45D5}"/>
              </a:ext>
            </a:extLst>
          </p:cNvPr>
          <p:cNvPicPr>
            <a:picLocks noChangeAspect="1"/>
          </p:cNvPicPr>
          <p:nvPr/>
        </p:nvPicPr>
        <p:blipFill>
          <a:blip r:embed="rId3"/>
          <a:srcRect t="20593" r="53252"/>
          <a:stretch>
            <a:fillRect/>
          </a:stretch>
        </p:blipFill>
        <p:spPr>
          <a:xfrm>
            <a:off x="1326788" y="1937811"/>
            <a:ext cx="4042381" cy="29823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6E5D4D-8289-856B-0109-63B6DC462AB9}"/>
              </a:ext>
            </a:extLst>
          </p:cNvPr>
          <p:cNvSpPr txBox="1"/>
          <p:nvPr/>
        </p:nvSpPr>
        <p:spPr>
          <a:xfrm>
            <a:off x="357647" y="428132"/>
            <a:ext cx="10251737" cy="400110"/>
          </a:xfrm>
          <a:prstGeom prst="rect">
            <a:avLst/>
          </a:prstGeom>
          <a:noFill/>
        </p:spPr>
        <p:txBody>
          <a:bodyPr wrap="square" rtlCol="0">
            <a:spAutoFit/>
          </a:bodyPr>
          <a:lstStyle/>
          <a:p>
            <a:r>
              <a:rPr lang="en-US" sz="2000" b="1" dirty="0">
                <a:latin typeface="Lucida Fax" panose="02060602050505020204" pitchFamily="18" charset="0"/>
              </a:rPr>
              <a:t>03. Compare energy production and consumption by country and year.</a:t>
            </a:r>
            <a:endParaRPr lang="en-IN" sz="2000" b="1" u="sng" dirty="0">
              <a:latin typeface="Lucida Fax" panose="02060602050505020204" pitchFamily="18" charset="0"/>
            </a:endParaRPr>
          </a:p>
        </p:txBody>
      </p:sp>
      <p:pic>
        <p:nvPicPr>
          <p:cNvPr id="7" name="Picture 6">
            <a:extLst>
              <a:ext uri="{FF2B5EF4-FFF2-40B4-BE49-F238E27FC236}">
                <a16:creationId xmlns:a16="http://schemas.microsoft.com/office/drawing/2014/main" id="{DE275DC6-333B-EE09-930A-A4B431BBA768}"/>
              </a:ext>
            </a:extLst>
          </p:cNvPr>
          <p:cNvPicPr>
            <a:picLocks noChangeAspect="1"/>
          </p:cNvPicPr>
          <p:nvPr/>
        </p:nvPicPr>
        <p:blipFill>
          <a:blip r:embed="rId2"/>
          <a:srcRect t="15859" r="34841"/>
          <a:stretch>
            <a:fillRect/>
          </a:stretch>
        </p:blipFill>
        <p:spPr>
          <a:xfrm>
            <a:off x="217100" y="1424432"/>
            <a:ext cx="4152652" cy="3828288"/>
          </a:xfrm>
          <a:prstGeom prst="rect">
            <a:avLst/>
          </a:prstGeom>
        </p:spPr>
      </p:pic>
      <p:pic>
        <p:nvPicPr>
          <p:cNvPr id="9" name="Picture 8">
            <a:extLst>
              <a:ext uri="{FF2B5EF4-FFF2-40B4-BE49-F238E27FC236}">
                <a16:creationId xmlns:a16="http://schemas.microsoft.com/office/drawing/2014/main" id="{252DE2C9-3B73-AC98-3A92-45730ED9659B}"/>
              </a:ext>
            </a:extLst>
          </p:cNvPr>
          <p:cNvPicPr>
            <a:picLocks noChangeAspect="1"/>
          </p:cNvPicPr>
          <p:nvPr/>
        </p:nvPicPr>
        <p:blipFill>
          <a:blip r:embed="rId3"/>
          <a:srcRect/>
          <a:stretch/>
        </p:blipFill>
        <p:spPr>
          <a:xfrm>
            <a:off x="4369752" y="1102357"/>
            <a:ext cx="7461032" cy="4729483"/>
          </a:xfrm>
          <a:prstGeom prst="rect">
            <a:avLst/>
          </a:prstGeom>
          <a:ln w="28575">
            <a:solidFill>
              <a:schemeClr val="tx1"/>
            </a:solidFill>
            <a:prstDash val="dash"/>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97A6F5-9982-0198-5675-F6409F4046F4}"/>
              </a:ext>
            </a:extLst>
          </p:cNvPr>
          <p:cNvSpPr txBox="1"/>
          <p:nvPr/>
        </p:nvSpPr>
        <p:spPr>
          <a:xfrm>
            <a:off x="777831" y="783120"/>
            <a:ext cx="10875707" cy="400110"/>
          </a:xfrm>
          <a:prstGeom prst="rect">
            <a:avLst/>
          </a:prstGeom>
          <a:noFill/>
        </p:spPr>
        <p:txBody>
          <a:bodyPr wrap="square" rtlCol="0">
            <a:spAutoFit/>
          </a:bodyPr>
          <a:lstStyle/>
          <a:p>
            <a:r>
              <a:rPr lang="en-US" sz="2000" b="1" dirty="0">
                <a:latin typeface="Lucida Fax" panose="02060602050505020204" pitchFamily="18" charset="0"/>
              </a:rPr>
              <a:t>04. Which energy types contribute most to emissions across all countries?</a:t>
            </a:r>
            <a:endParaRPr lang="en-IN" sz="2000" b="1" u="sng" dirty="0">
              <a:latin typeface="Lucida Fax" panose="02060602050505020204" pitchFamily="18" charset="0"/>
            </a:endParaRPr>
          </a:p>
        </p:txBody>
      </p:sp>
      <p:pic>
        <p:nvPicPr>
          <p:cNvPr id="4" name="Picture 3">
            <a:extLst>
              <a:ext uri="{FF2B5EF4-FFF2-40B4-BE49-F238E27FC236}">
                <a16:creationId xmlns:a16="http://schemas.microsoft.com/office/drawing/2014/main" id="{D3C7C635-52F1-F919-A8F8-4620E8792E06}"/>
              </a:ext>
            </a:extLst>
          </p:cNvPr>
          <p:cNvPicPr>
            <a:picLocks noChangeAspect="1"/>
          </p:cNvPicPr>
          <p:nvPr/>
        </p:nvPicPr>
        <p:blipFill>
          <a:blip r:embed="rId2"/>
          <a:stretch>
            <a:fillRect/>
          </a:stretch>
        </p:blipFill>
        <p:spPr>
          <a:xfrm>
            <a:off x="603885" y="1622107"/>
            <a:ext cx="6686550" cy="1624013"/>
          </a:xfrm>
          <a:prstGeom prst="rect">
            <a:avLst/>
          </a:prstGeom>
        </p:spPr>
      </p:pic>
      <p:pic>
        <p:nvPicPr>
          <p:cNvPr id="8" name="Picture 7">
            <a:extLst>
              <a:ext uri="{FF2B5EF4-FFF2-40B4-BE49-F238E27FC236}">
                <a16:creationId xmlns:a16="http://schemas.microsoft.com/office/drawing/2014/main" id="{2B688E6E-D292-DCCF-EB1A-79883ADBAABD}"/>
              </a:ext>
            </a:extLst>
          </p:cNvPr>
          <p:cNvPicPr>
            <a:picLocks noChangeAspect="1"/>
          </p:cNvPicPr>
          <p:nvPr/>
        </p:nvPicPr>
        <p:blipFill>
          <a:blip r:embed="rId3"/>
          <a:stretch>
            <a:fillRect/>
          </a:stretch>
        </p:blipFill>
        <p:spPr>
          <a:xfrm>
            <a:off x="2253284" y="3611881"/>
            <a:ext cx="9206896" cy="2179319"/>
          </a:xfrm>
          <a:prstGeom prst="rect">
            <a:avLst/>
          </a:prstGeom>
        </p:spPr>
      </p:pic>
    </p:spTree>
    <p:extLst>
      <p:ext uri="{BB962C8B-B14F-4D97-AF65-F5344CB8AC3E}">
        <p14:creationId xmlns:p14="http://schemas.microsoft.com/office/powerpoint/2010/main" val="1879510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256AE5-5455-7FDB-FBB1-37E2D26408CD}"/>
              </a:ext>
            </a:extLst>
          </p:cNvPr>
          <p:cNvSpPr txBox="1"/>
          <p:nvPr/>
        </p:nvSpPr>
        <p:spPr>
          <a:xfrm>
            <a:off x="347816" y="323971"/>
            <a:ext cx="11996584" cy="400110"/>
          </a:xfrm>
          <a:prstGeom prst="rect">
            <a:avLst/>
          </a:prstGeom>
          <a:noFill/>
        </p:spPr>
        <p:txBody>
          <a:bodyPr wrap="square" rtlCol="0">
            <a:spAutoFit/>
          </a:bodyPr>
          <a:lstStyle/>
          <a:p>
            <a:r>
              <a:rPr lang="en-IN" sz="2000" b="1" dirty="0">
                <a:latin typeface="Lucida Fax" panose="02060602050505020204" pitchFamily="18" charset="0"/>
              </a:rPr>
              <a:t>05. </a:t>
            </a:r>
            <a:r>
              <a:rPr lang="en-US" sz="2000" b="1" dirty="0">
                <a:latin typeface="Lucida Fax" panose="02060602050505020204" pitchFamily="18" charset="0"/>
              </a:rPr>
              <a:t>Trend Analysis Over Time How have global emissions changed year over year?</a:t>
            </a:r>
            <a:endParaRPr lang="en-IN" sz="2000" b="1" dirty="0">
              <a:latin typeface="Lucida Fax" panose="02060602050505020204" pitchFamily="18" charset="0"/>
            </a:endParaRPr>
          </a:p>
        </p:txBody>
      </p:sp>
      <p:pic>
        <p:nvPicPr>
          <p:cNvPr id="5" name="Picture 4">
            <a:extLst>
              <a:ext uri="{FF2B5EF4-FFF2-40B4-BE49-F238E27FC236}">
                <a16:creationId xmlns:a16="http://schemas.microsoft.com/office/drawing/2014/main" id="{5B9D447A-BEDD-5FB7-C4C4-89E3EAF5C9F4}"/>
              </a:ext>
            </a:extLst>
          </p:cNvPr>
          <p:cNvPicPr>
            <a:picLocks noChangeAspect="1"/>
          </p:cNvPicPr>
          <p:nvPr/>
        </p:nvPicPr>
        <p:blipFill>
          <a:blip r:embed="rId2"/>
          <a:srcRect t="10601" r="5862"/>
          <a:stretch>
            <a:fillRect/>
          </a:stretch>
        </p:blipFill>
        <p:spPr>
          <a:xfrm>
            <a:off x="347816" y="976892"/>
            <a:ext cx="8810950" cy="3322392"/>
          </a:xfrm>
          <a:prstGeom prst="rect">
            <a:avLst/>
          </a:prstGeom>
        </p:spPr>
      </p:pic>
      <p:pic>
        <p:nvPicPr>
          <p:cNvPr id="9" name="Picture 8">
            <a:extLst>
              <a:ext uri="{FF2B5EF4-FFF2-40B4-BE49-F238E27FC236}">
                <a16:creationId xmlns:a16="http://schemas.microsoft.com/office/drawing/2014/main" id="{335BAFED-B75A-C277-91BA-7E64766EBB33}"/>
              </a:ext>
            </a:extLst>
          </p:cNvPr>
          <p:cNvPicPr>
            <a:picLocks noChangeAspect="1"/>
          </p:cNvPicPr>
          <p:nvPr/>
        </p:nvPicPr>
        <p:blipFill>
          <a:blip r:embed="rId3"/>
          <a:srcRect/>
          <a:stretch/>
        </p:blipFill>
        <p:spPr>
          <a:xfrm>
            <a:off x="3128211" y="4505533"/>
            <a:ext cx="8810949" cy="1686719"/>
          </a:xfrm>
          <a:prstGeom prst="rect">
            <a:avLst/>
          </a:prstGeom>
          <a:ln w="28575">
            <a:solidFill>
              <a:schemeClr val="tx1"/>
            </a:solidFill>
            <a:prstDash val="dash"/>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B78C6D-16A0-B101-8E52-3933A0D61A81}"/>
              </a:ext>
            </a:extLst>
          </p:cNvPr>
          <p:cNvSpPr txBox="1"/>
          <p:nvPr/>
        </p:nvSpPr>
        <p:spPr>
          <a:xfrm>
            <a:off x="814848" y="816076"/>
            <a:ext cx="10411877" cy="400110"/>
          </a:xfrm>
          <a:prstGeom prst="rect">
            <a:avLst/>
          </a:prstGeom>
          <a:noFill/>
        </p:spPr>
        <p:txBody>
          <a:bodyPr wrap="square" rtlCol="0">
            <a:spAutoFit/>
          </a:bodyPr>
          <a:lstStyle/>
          <a:p>
            <a:r>
              <a:rPr lang="en-IN" sz="2000" b="1" dirty="0">
                <a:latin typeface="Lucida Fax" panose="02060602050505020204" pitchFamily="18" charset="0"/>
              </a:rPr>
              <a:t>06. </a:t>
            </a:r>
            <a:r>
              <a:rPr lang="en-US" sz="2000" b="1" dirty="0">
                <a:latin typeface="Lucida Fax" panose="02060602050505020204" pitchFamily="18" charset="0"/>
              </a:rPr>
              <a:t>How has population growth affected total emissions of top 5 countries?</a:t>
            </a:r>
            <a:endParaRPr lang="en-IN" sz="2000" b="1" u="sng" dirty="0">
              <a:latin typeface="Lucida Fax" panose="02060602050505020204" pitchFamily="18" charset="0"/>
            </a:endParaRPr>
          </a:p>
        </p:txBody>
      </p:sp>
      <p:pic>
        <p:nvPicPr>
          <p:cNvPr id="6" name="Picture 5">
            <a:extLst>
              <a:ext uri="{FF2B5EF4-FFF2-40B4-BE49-F238E27FC236}">
                <a16:creationId xmlns:a16="http://schemas.microsoft.com/office/drawing/2014/main" id="{100B3CA3-6DCA-D105-2C00-0C73E6255513}"/>
              </a:ext>
            </a:extLst>
          </p:cNvPr>
          <p:cNvPicPr>
            <a:picLocks noChangeAspect="1"/>
          </p:cNvPicPr>
          <p:nvPr/>
        </p:nvPicPr>
        <p:blipFill>
          <a:blip r:embed="rId2"/>
          <a:stretch>
            <a:fillRect/>
          </a:stretch>
        </p:blipFill>
        <p:spPr>
          <a:xfrm>
            <a:off x="979571" y="1448271"/>
            <a:ext cx="4457700" cy="4362450"/>
          </a:xfrm>
          <a:prstGeom prst="rect">
            <a:avLst/>
          </a:prstGeom>
        </p:spPr>
      </p:pic>
      <p:pic>
        <p:nvPicPr>
          <p:cNvPr id="10" name="Picture 9">
            <a:extLst>
              <a:ext uri="{FF2B5EF4-FFF2-40B4-BE49-F238E27FC236}">
                <a16:creationId xmlns:a16="http://schemas.microsoft.com/office/drawing/2014/main" id="{93BCBD70-42CF-63E6-0D58-E65F0DE1F739}"/>
              </a:ext>
            </a:extLst>
          </p:cNvPr>
          <p:cNvPicPr>
            <a:picLocks noChangeAspect="1"/>
          </p:cNvPicPr>
          <p:nvPr/>
        </p:nvPicPr>
        <p:blipFill>
          <a:blip r:embed="rId3"/>
          <a:stretch>
            <a:fillRect/>
          </a:stretch>
        </p:blipFill>
        <p:spPr>
          <a:xfrm>
            <a:off x="6234362" y="1448271"/>
            <a:ext cx="4343400" cy="4314825"/>
          </a:xfrm>
          <a:prstGeom prst="rect">
            <a:avLst/>
          </a:prstGeom>
        </p:spPr>
      </p:pic>
    </p:spTree>
    <p:extLst>
      <p:ext uri="{BB962C8B-B14F-4D97-AF65-F5344CB8AC3E}">
        <p14:creationId xmlns:p14="http://schemas.microsoft.com/office/powerpoint/2010/main" val="3816484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B45B8-5884-7D74-7510-12376EF2320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75F3BC-19A9-2DA1-E55E-5C2E80EC9F8F}"/>
              </a:ext>
            </a:extLst>
          </p:cNvPr>
          <p:cNvSpPr txBox="1"/>
          <p:nvPr/>
        </p:nvSpPr>
        <p:spPr>
          <a:xfrm>
            <a:off x="658146" y="221646"/>
            <a:ext cx="10875707" cy="400110"/>
          </a:xfrm>
          <a:prstGeom prst="rect">
            <a:avLst/>
          </a:prstGeom>
          <a:noFill/>
        </p:spPr>
        <p:txBody>
          <a:bodyPr wrap="square" rtlCol="0">
            <a:spAutoFit/>
          </a:bodyPr>
          <a:lstStyle/>
          <a:p>
            <a:r>
              <a:rPr lang="en-IN" sz="2000" b="1" dirty="0">
                <a:latin typeface="Lucida Fax" panose="02060602050505020204" pitchFamily="18" charset="0"/>
              </a:rPr>
              <a:t>06. </a:t>
            </a:r>
            <a:r>
              <a:rPr lang="en-US" sz="2000" b="1" dirty="0">
                <a:latin typeface="Lucida Fax" panose="02060602050505020204" pitchFamily="18" charset="0"/>
              </a:rPr>
              <a:t>How has population growth affected total emissions of top 5 countries?</a:t>
            </a:r>
            <a:endParaRPr lang="en-IN" sz="2000" b="1" u="sng" dirty="0">
              <a:latin typeface="Lucida Fax" panose="02060602050505020204" pitchFamily="18" charset="0"/>
            </a:endParaRPr>
          </a:p>
        </p:txBody>
      </p:sp>
      <p:pic>
        <p:nvPicPr>
          <p:cNvPr id="4" name="Picture 3">
            <a:extLst>
              <a:ext uri="{FF2B5EF4-FFF2-40B4-BE49-F238E27FC236}">
                <a16:creationId xmlns:a16="http://schemas.microsoft.com/office/drawing/2014/main" id="{ACB160E8-F5DB-54BA-60A1-2FBE417C13A0}"/>
              </a:ext>
            </a:extLst>
          </p:cNvPr>
          <p:cNvPicPr>
            <a:picLocks noChangeAspect="1"/>
          </p:cNvPicPr>
          <p:nvPr/>
        </p:nvPicPr>
        <p:blipFill>
          <a:blip r:embed="rId2"/>
          <a:stretch>
            <a:fillRect/>
          </a:stretch>
        </p:blipFill>
        <p:spPr>
          <a:xfrm>
            <a:off x="694467" y="621756"/>
            <a:ext cx="9893322" cy="4141807"/>
          </a:xfrm>
          <a:prstGeom prst="rect">
            <a:avLst/>
          </a:prstGeom>
        </p:spPr>
      </p:pic>
      <p:pic>
        <p:nvPicPr>
          <p:cNvPr id="8" name="Picture 7">
            <a:extLst>
              <a:ext uri="{FF2B5EF4-FFF2-40B4-BE49-F238E27FC236}">
                <a16:creationId xmlns:a16="http://schemas.microsoft.com/office/drawing/2014/main" id="{74FA91F9-A6CB-B406-7EEF-14560FC67230}"/>
              </a:ext>
            </a:extLst>
          </p:cNvPr>
          <p:cNvPicPr>
            <a:picLocks noChangeAspect="1"/>
          </p:cNvPicPr>
          <p:nvPr/>
        </p:nvPicPr>
        <p:blipFill>
          <a:blip r:embed="rId3"/>
          <a:stretch>
            <a:fillRect/>
          </a:stretch>
        </p:blipFill>
        <p:spPr>
          <a:xfrm>
            <a:off x="694468" y="4763563"/>
            <a:ext cx="8898712" cy="1142045"/>
          </a:xfrm>
          <a:prstGeom prst="rect">
            <a:avLst/>
          </a:prstGeom>
        </p:spPr>
      </p:pic>
    </p:spTree>
    <p:extLst>
      <p:ext uri="{BB962C8B-B14F-4D97-AF65-F5344CB8AC3E}">
        <p14:creationId xmlns:p14="http://schemas.microsoft.com/office/powerpoint/2010/main" val="2154171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DDD79-0C8B-7A08-185C-92092C5A50E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3EDB2A-9443-350B-A06E-1F7A978DEF96}"/>
              </a:ext>
            </a:extLst>
          </p:cNvPr>
          <p:cNvSpPr txBox="1"/>
          <p:nvPr/>
        </p:nvSpPr>
        <p:spPr>
          <a:xfrm>
            <a:off x="658146" y="510404"/>
            <a:ext cx="10875707" cy="707886"/>
          </a:xfrm>
          <a:prstGeom prst="rect">
            <a:avLst/>
          </a:prstGeom>
          <a:noFill/>
        </p:spPr>
        <p:txBody>
          <a:bodyPr wrap="square" rtlCol="0">
            <a:spAutoFit/>
          </a:bodyPr>
          <a:lstStyle/>
          <a:p>
            <a:r>
              <a:rPr lang="en-US" sz="2000" b="1" dirty="0">
                <a:latin typeface="Lucida Fax" panose="02060602050505020204" pitchFamily="18" charset="0"/>
              </a:rPr>
              <a:t>07. Has energy consumption increased or decreased over the years for major economies?</a:t>
            </a:r>
            <a:endParaRPr lang="en-IN" sz="2000" b="1" u="sng" dirty="0">
              <a:latin typeface="Lucida Fax" panose="02060602050505020204" pitchFamily="18" charset="0"/>
            </a:endParaRPr>
          </a:p>
        </p:txBody>
      </p:sp>
      <p:pic>
        <p:nvPicPr>
          <p:cNvPr id="5" name="Picture 4">
            <a:extLst>
              <a:ext uri="{FF2B5EF4-FFF2-40B4-BE49-F238E27FC236}">
                <a16:creationId xmlns:a16="http://schemas.microsoft.com/office/drawing/2014/main" id="{5C8D57E2-A129-49EE-77E4-FE7162B950CB}"/>
              </a:ext>
            </a:extLst>
          </p:cNvPr>
          <p:cNvPicPr>
            <a:picLocks noChangeAspect="1"/>
          </p:cNvPicPr>
          <p:nvPr/>
        </p:nvPicPr>
        <p:blipFill>
          <a:blip r:embed="rId2"/>
          <a:srcRect l="-1048" t="10922" r="19766" b="-368"/>
          <a:stretch>
            <a:fillRect/>
          </a:stretch>
        </p:blipFill>
        <p:spPr>
          <a:xfrm>
            <a:off x="256675" y="1471546"/>
            <a:ext cx="5839325" cy="4203942"/>
          </a:xfrm>
          <a:prstGeom prst="rect">
            <a:avLst/>
          </a:prstGeom>
        </p:spPr>
      </p:pic>
      <p:pic>
        <p:nvPicPr>
          <p:cNvPr id="7" name="Picture 6">
            <a:extLst>
              <a:ext uri="{FF2B5EF4-FFF2-40B4-BE49-F238E27FC236}">
                <a16:creationId xmlns:a16="http://schemas.microsoft.com/office/drawing/2014/main" id="{095DC60F-85F5-25C2-0206-1513197C137D}"/>
              </a:ext>
            </a:extLst>
          </p:cNvPr>
          <p:cNvPicPr>
            <a:picLocks noChangeAspect="1"/>
          </p:cNvPicPr>
          <p:nvPr/>
        </p:nvPicPr>
        <p:blipFill>
          <a:blip r:embed="rId3"/>
          <a:srcRect/>
          <a:stretch/>
        </p:blipFill>
        <p:spPr>
          <a:xfrm>
            <a:off x="6240379" y="1099499"/>
            <a:ext cx="5534525" cy="4472710"/>
          </a:xfrm>
          <a:prstGeom prst="rect">
            <a:avLst/>
          </a:prstGeom>
          <a:ln w="28575">
            <a:solidFill>
              <a:schemeClr val="tx1"/>
            </a:solidFill>
            <a:prstDash val="dash"/>
          </a:ln>
        </p:spPr>
      </p:pic>
    </p:spTree>
    <p:extLst>
      <p:ext uri="{BB962C8B-B14F-4D97-AF65-F5344CB8AC3E}">
        <p14:creationId xmlns:p14="http://schemas.microsoft.com/office/powerpoint/2010/main" val="2823101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18F2A-35CE-2F53-200B-B36921437C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BD9F5A-A49E-0D1E-8C46-7B4AA77C9586}"/>
              </a:ext>
            </a:extLst>
          </p:cNvPr>
          <p:cNvSpPr txBox="1"/>
          <p:nvPr/>
        </p:nvSpPr>
        <p:spPr>
          <a:xfrm>
            <a:off x="658146" y="510404"/>
            <a:ext cx="10875707" cy="400110"/>
          </a:xfrm>
          <a:prstGeom prst="rect">
            <a:avLst/>
          </a:prstGeom>
          <a:noFill/>
        </p:spPr>
        <p:txBody>
          <a:bodyPr wrap="square" rtlCol="0">
            <a:spAutoFit/>
          </a:bodyPr>
          <a:lstStyle/>
          <a:p>
            <a:r>
              <a:rPr lang="en-US" sz="2000" b="1" dirty="0">
                <a:latin typeface="Lucida Fax" panose="02060602050505020204" pitchFamily="18" charset="0"/>
              </a:rPr>
              <a:t>08. What is the emission-to-GDP ratio for each country by year?</a:t>
            </a:r>
            <a:endParaRPr lang="en-IN" sz="2000" b="1" u="sng" dirty="0">
              <a:latin typeface="Lucida Fax" panose="02060602050505020204" pitchFamily="18" charset="0"/>
            </a:endParaRPr>
          </a:p>
        </p:txBody>
      </p:sp>
      <p:pic>
        <p:nvPicPr>
          <p:cNvPr id="4" name="Picture 3">
            <a:extLst>
              <a:ext uri="{FF2B5EF4-FFF2-40B4-BE49-F238E27FC236}">
                <a16:creationId xmlns:a16="http://schemas.microsoft.com/office/drawing/2014/main" id="{5A079F9E-D966-480E-1993-67BDA08C9A36}"/>
              </a:ext>
            </a:extLst>
          </p:cNvPr>
          <p:cNvPicPr>
            <a:picLocks noChangeAspect="1"/>
          </p:cNvPicPr>
          <p:nvPr/>
        </p:nvPicPr>
        <p:blipFill>
          <a:blip r:embed="rId2"/>
          <a:stretch>
            <a:fillRect/>
          </a:stretch>
        </p:blipFill>
        <p:spPr>
          <a:xfrm>
            <a:off x="259560" y="1295323"/>
            <a:ext cx="4570348" cy="3764718"/>
          </a:xfrm>
          <a:prstGeom prst="rect">
            <a:avLst/>
          </a:prstGeom>
        </p:spPr>
      </p:pic>
      <p:pic>
        <p:nvPicPr>
          <p:cNvPr id="8" name="Picture 7">
            <a:extLst>
              <a:ext uri="{FF2B5EF4-FFF2-40B4-BE49-F238E27FC236}">
                <a16:creationId xmlns:a16="http://schemas.microsoft.com/office/drawing/2014/main" id="{5F2C7177-249E-ED5D-EEA3-44F3BC4B10B4}"/>
              </a:ext>
            </a:extLst>
          </p:cNvPr>
          <p:cNvPicPr>
            <a:picLocks noChangeAspect="1"/>
          </p:cNvPicPr>
          <p:nvPr/>
        </p:nvPicPr>
        <p:blipFill>
          <a:blip r:embed="rId3"/>
          <a:stretch>
            <a:fillRect/>
          </a:stretch>
        </p:blipFill>
        <p:spPr>
          <a:xfrm>
            <a:off x="5017476" y="910514"/>
            <a:ext cx="6914963" cy="4833793"/>
          </a:xfrm>
          <a:prstGeom prst="rect">
            <a:avLst/>
          </a:prstGeom>
        </p:spPr>
      </p:pic>
    </p:spTree>
    <p:extLst>
      <p:ext uri="{BB962C8B-B14F-4D97-AF65-F5344CB8AC3E}">
        <p14:creationId xmlns:p14="http://schemas.microsoft.com/office/powerpoint/2010/main" val="1307545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97187-C31E-A913-8FEF-E4218E57AAD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EF35F7-4431-3FAB-4309-89A332D393BE}"/>
              </a:ext>
            </a:extLst>
          </p:cNvPr>
          <p:cNvSpPr txBox="1"/>
          <p:nvPr/>
        </p:nvSpPr>
        <p:spPr>
          <a:xfrm>
            <a:off x="658146" y="510404"/>
            <a:ext cx="10875707" cy="707886"/>
          </a:xfrm>
          <a:prstGeom prst="rect">
            <a:avLst/>
          </a:prstGeom>
          <a:noFill/>
        </p:spPr>
        <p:txBody>
          <a:bodyPr wrap="square" rtlCol="0">
            <a:spAutoFit/>
          </a:bodyPr>
          <a:lstStyle/>
          <a:p>
            <a:r>
              <a:rPr lang="en-US" sz="2000" b="1" dirty="0">
                <a:latin typeface="Lucida Fax" panose="02060602050505020204" pitchFamily="18" charset="0"/>
              </a:rPr>
              <a:t>09. What is the energy consumption per capita for each country over the last decade?</a:t>
            </a:r>
            <a:endParaRPr lang="en-IN" sz="2000" b="1" u="sng" dirty="0">
              <a:latin typeface="Lucida Fax" panose="02060602050505020204" pitchFamily="18" charset="0"/>
            </a:endParaRPr>
          </a:p>
        </p:txBody>
      </p:sp>
      <p:pic>
        <p:nvPicPr>
          <p:cNvPr id="10" name="Picture 9">
            <a:extLst>
              <a:ext uri="{FF2B5EF4-FFF2-40B4-BE49-F238E27FC236}">
                <a16:creationId xmlns:a16="http://schemas.microsoft.com/office/drawing/2014/main" id="{263C128C-F559-1C9F-6648-6776142A9759}"/>
              </a:ext>
            </a:extLst>
          </p:cNvPr>
          <p:cNvPicPr>
            <a:picLocks noChangeAspect="1"/>
          </p:cNvPicPr>
          <p:nvPr/>
        </p:nvPicPr>
        <p:blipFill>
          <a:blip r:embed="rId2"/>
          <a:stretch>
            <a:fillRect/>
          </a:stretch>
        </p:blipFill>
        <p:spPr>
          <a:xfrm>
            <a:off x="772909" y="1576314"/>
            <a:ext cx="3848100" cy="3181350"/>
          </a:xfrm>
          <a:prstGeom prst="rect">
            <a:avLst/>
          </a:prstGeom>
        </p:spPr>
      </p:pic>
      <p:pic>
        <p:nvPicPr>
          <p:cNvPr id="12" name="Picture 11">
            <a:extLst>
              <a:ext uri="{FF2B5EF4-FFF2-40B4-BE49-F238E27FC236}">
                <a16:creationId xmlns:a16="http://schemas.microsoft.com/office/drawing/2014/main" id="{1CC183F4-3722-C350-99F7-7E6CF75564DB}"/>
              </a:ext>
            </a:extLst>
          </p:cNvPr>
          <p:cNvPicPr>
            <a:picLocks noChangeAspect="1"/>
          </p:cNvPicPr>
          <p:nvPr/>
        </p:nvPicPr>
        <p:blipFill>
          <a:blip r:embed="rId3"/>
          <a:stretch>
            <a:fillRect/>
          </a:stretch>
        </p:blipFill>
        <p:spPr>
          <a:xfrm>
            <a:off x="5108780" y="995362"/>
            <a:ext cx="6425073" cy="4867275"/>
          </a:xfrm>
          <a:prstGeom prst="rect">
            <a:avLst/>
          </a:prstGeom>
        </p:spPr>
      </p:pic>
      <p:pic>
        <p:nvPicPr>
          <p:cNvPr id="4" name="Picture 3">
            <a:extLst>
              <a:ext uri="{FF2B5EF4-FFF2-40B4-BE49-F238E27FC236}">
                <a16:creationId xmlns:a16="http://schemas.microsoft.com/office/drawing/2014/main" id="{CB23F64C-B7B3-F061-9F1D-7A2FB6C5A680}"/>
              </a:ext>
            </a:extLst>
          </p:cNvPr>
          <p:cNvPicPr>
            <a:picLocks noChangeAspect="1"/>
          </p:cNvPicPr>
          <p:nvPr/>
        </p:nvPicPr>
        <p:blipFill>
          <a:blip r:embed="rId4"/>
          <a:stretch>
            <a:fillRect/>
          </a:stretch>
        </p:blipFill>
        <p:spPr>
          <a:xfrm>
            <a:off x="4621009" y="1266825"/>
            <a:ext cx="3946728" cy="4324350"/>
          </a:xfrm>
          <a:prstGeom prst="rect">
            <a:avLst/>
          </a:prstGeom>
        </p:spPr>
      </p:pic>
    </p:spTree>
    <p:extLst>
      <p:ext uri="{BB962C8B-B14F-4D97-AF65-F5344CB8AC3E}">
        <p14:creationId xmlns:p14="http://schemas.microsoft.com/office/powerpoint/2010/main" val="755139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BC1B7-1263-6F5D-66B9-1EF0EB9A6A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21BD9E-F7D4-7D02-1A3A-DBEE6568BD75}"/>
              </a:ext>
            </a:extLst>
          </p:cNvPr>
          <p:cNvSpPr txBox="1"/>
          <p:nvPr/>
        </p:nvSpPr>
        <p:spPr>
          <a:xfrm>
            <a:off x="658146" y="510404"/>
            <a:ext cx="10875707" cy="400110"/>
          </a:xfrm>
          <a:prstGeom prst="rect">
            <a:avLst/>
          </a:prstGeom>
          <a:noFill/>
        </p:spPr>
        <p:txBody>
          <a:bodyPr wrap="square" rtlCol="0">
            <a:spAutoFit/>
          </a:bodyPr>
          <a:lstStyle/>
          <a:p>
            <a:r>
              <a:rPr lang="en-US" sz="2000" b="1" dirty="0">
                <a:latin typeface="Lucida Fax" panose="02060602050505020204" pitchFamily="18" charset="0"/>
              </a:rPr>
              <a:t>10. How does energy production per capita vary across countries?</a:t>
            </a:r>
            <a:endParaRPr lang="en-IN" sz="2000" b="1" u="sng" dirty="0">
              <a:latin typeface="Lucida Fax" panose="02060602050505020204" pitchFamily="18" charset="0"/>
            </a:endParaRPr>
          </a:p>
        </p:txBody>
      </p:sp>
      <p:pic>
        <p:nvPicPr>
          <p:cNvPr id="14" name="Picture 13">
            <a:extLst>
              <a:ext uri="{FF2B5EF4-FFF2-40B4-BE49-F238E27FC236}">
                <a16:creationId xmlns:a16="http://schemas.microsoft.com/office/drawing/2014/main" id="{18B5BE16-D6A8-4D31-C057-0376EF2F4E01}"/>
              </a:ext>
            </a:extLst>
          </p:cNvPr>
          <p:cNvPicPr>
            <a:picLocks noChangeAspect="1"/>
          </p:cNvPicPr>
          <p:nvPr/>
        </p:nvPicPr>
        <p:blipFill>
          <a:blip r:embed="rId2"/>
          <a:srcRect t="20227" r="43002"/>
          <a:stretch>
            <a:fillRect/>
          </a:stretch>
        </p:blipFill>
        <p:spPr>
          <a:xfrm>
            <a:off x="433558" y="1604210"/>
            <a:ext cx="3881770" cy="2568241"/>
          </a:xfrm>
          <a:prstGeom prst="rect">
            <a:avLst/>
          </a:prstGeom>
        </p:spPr>
      </p:pic>
      <p:pic>
        <p:nvPicPr>
          <p:cNvPr id="16" name="Picture 15">
            <a:extLst>
              <a:ext uri="{FF2B5EF4-FFF2-40B4-BE49-F238E27FC236}">
                <a16:creationId xmlns:a16="http://schemas.microsoft.com/office/drawing/2014/main" id="{EE2CFD4D-575C-7910-979D-59D9B686D307}"/>
              </a:ext>
            </a:extLst>
          </p:cNvPr>
          <p:cNvPicPr>
            <a:picLocks noChangeAspect="1"/>
          </p:cNvPicPr>
          <p:nvPr/>
        </p:nvPicPr>
        <p:blipFill>
          <a:blip r:embed="rId3"/>
          <a:stretch>
            <a:fillRect/>
          </a:stretch>
        </p:blipFill>
        <p:spPr>
          <a:xfrm>
            <a:off x="4875546" y="1266825"/>
            <a:ext cx="6658307" cy="4324350"/>
          </a:xfrm>
          <a:prstGeom prst="rect">
            <a:avLst/>
          </a:prstGeom>
        </p:spPr>
      </p:pic>
    </p:spTree>
    <p:extLst>
      <p:ext uri="{BB962C8B-B14F-4D97-AF65-F5344CB8AC3E}">
        <p14:creationId xmlns:p14="http://schemas.microsoft.com/office/powerpoint/2010/main" val="2231962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C7921-D21F-49CB-55D8-22B10D78BB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3276E53-1154-293A-9153-B6FFE571511D}"/>
              </a:ext>
            </a:extLst>
          </p:cNvPr>
          <p:cNvSpPr txBox="1"/>
          <p:nvPr/>
        </p:nvSpPr>
        <p:spPr>
          <a:xfrm>
            <a:off x="658146" y="510404"/>
            <a:ext cx="10875707" cy="400110"/>
          </a:xfrm>
          <a:prstGeom prst="rect">
            <a:avLst/>
          </a:prstGeom>
          <a:noFill/>
        </p:spPr>
        <p:txBody>
          <a:bodyPr wrap="square" rtlCol="0">
            <a:spAutoFit/>
          </a:bodyPr>
          <a:lstStyle/>
          <a:p>
            <a:r>
              <a:rPr lang="en-US" sz="2000" b="1" dirty="0">
                <a:latin typeface="Lucida Fax" panose="02060602050505020204" pitchFamily="18" charset="0"/>
              </a:rPr>
              <a:t>11. What is the global share (%) of emissions by country?</a:t>
            </a:r>
            <a:endParaRPr lang="en-IN" sz="2000" b="1" u="sng" dirty="0">
              <a:latin typeface="Lucida Fax" panose="02060602050505020204" pitchFamily="18" charset="0"/>
            </a:endParaRPr>
          </a:p>
        </p:txBody>
      </p:sp>
      <p:pic>
        <p:nvPicPr>
          <p:cNvPr id="8" name="Picture 7">
            <a:extLst>
              <a:ext uri="{FF2B5EF4-FFF2-40B4-BE49-F238E27FC236}">
                <a16:creationId xmlns:a16="http://schemas.microsoft.com/office/drawing/2014/main" id="{448DDBF4-7287-4F3A-2458-0A07AC7CF2BF}"/>
              </a:ext>
            </a:extLst>
          </p:cNvPr>
          <p:cNvPicPr>
            <a:picLocks noChangeAspect="1"/>
          </p:cNvPicPr>
          <p:nvPr/>
        </p:nvPicPr>
        <p:blipFill>
          <a:blip r:embed="rId2"/>
          <a:srcRect t="15018" r="36907"/>
          <a:stretch>
            <a:fillRect/>
          </a:stretch>
        </p:blipFill>
        <p:spPr>
          <a:xfrm>
            <a:off x="560639" y="2005264"/>
            <a:ext cx="4314907" cy="3585912"/>
          </a:xfrm>
          <a:prstGeom prst="rect">
            <a:avLst/>
          </a:prstGeom>
        </p:spPr>
      </p:pic>
      <p:pic>
        <p:nvPicPr>
          <p:cNvPr id="10" name="Picture 9">
            <a:extLst>
              <a:ext uri="{FF2B5EF4-FFF2-40B4-BE49-F238E27FC236}">
                <a16:creationId xmlns:a16="http://schemas.microsoft.com/office/drawing/2014/main" id="{B6A725BA-F102-6EF5-8588-D265557FBC5C}"/>
              </a:ext>
            </a:extLst>
          </p:cNvPr>
          <p:cNvPicPr>
            <a:picLocks noChangeAspect="1"/>
          </p:cNvPicPr>
          <p:nvPr/>
        </p:nvPicPr>
        <p:blipFill>
          <a:blip r:embed="rId3"/>
          <a:stretch>
            <a:fillRect/>
          </a:stretch>
        </p:blipFill>
        <p:spPr>
          <a:xfrm>
            <a:off x="4875546" y="1131971"/>
            <a:ext cx="6755815" cy="4914900"/>
          </a:xfrm>
          <a:prstGeom prst="rect">
            <a:avLst/>
          </a:prstGeom>
        </p:spPr>
      </p:pic>
    </p:spTree>
    <p:extLst>
      <p:ext uri="{BB962C8B-B14F-4D97-AF65-F5344CB8AC3E}">
        <p14:creationId xmlns:p14="http://schemas.microsoft.com/office/powerpoint/2010/main" val="3021835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2C876-EF52-3BE1-4FCE-3358FE1DC5B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C880B38-D1AE-84A3-E347-20FC676AC874}"/>
              </a:ext>
            </a:extLst>
          </p:cNvPr>
          <p:cNvSpPr txBox="1"/>
          <p:nvPr/>
        </p:nvSpPr>
        <p:spPr>
          <a:xfrm>
            <a:off x="658146" y="510404"/>
            <a:ext cx="10875707" cy="400110"/>
          </a:xfrm>
          <a:prstGeom prst="rect">
            <a:avLst/>
          </a:prstGeom>
          <a:noFill/>
        </p:spPr>
        <p:txBody>
          <a:bodyPr wrap="square" rtlCol="0">
            <a:spAutoFit/>
          </a:bodyPr>
          <a:lstStyle/>
          <a:p>
            <a:r>
              <a:rPr lang="en-US" sz="2000" b="1" dirty="0">
                <a:latin typeface="Lucida Fax" panose="02060602050505020204" pitchFamily="18" charset="0"/>
              </a:rPr>
              <a:t>12. How does energy production per capita vary across countries?</a:t>
            </a:r>
            <a:endParaRPr lang="en-IN" sz="2000" b="1" u="sng" dirty="0">
              <a:latin typeface="Lucida Fax" panose="02060602050505020204" pitchFamily="18" charset="0"/>
            </a:endParaRPr>
          </a:p>
        </p:txBody>
      </p:sp>
      <p:pic>
        <p:nvPicPr>
          <p:cNvPr id="8" name="Picture 7">
            <a:extLst>
              <a:ext uri="{FF2B5EF4-FFF2-40B4-BE49-F238E27FC236}">
                <a16:creationId xmlns:a16="http://schemas.microsoft.com/office/drawing/2014/main" id="{DFA64FF6-DCD1-91B9-749D-7B67E8385D34}"/>
              </a:ext>
            </a:extLst>
          </p:cNvPr>
          <p:cNvPicPr>
            <a:picLocks noChangeAspect="1"/>
          </p:cNvPicPr>
          <p:nvPr/>
        </p:nvPicPr>
        <p:blipFill>
          <a:blip r:embed="rId2"/>
          <a:stretch>
            <a:fillRect/>
          </a:stretch>
        </p:blipFill>
        <p:spPr>
          <a:xfrm>
            <a:off x="4907280" y="1752600"/>
            <a:ext cx="6911741" cy="4029075"/>
          </a:xfrm>
          <a:prstGeom prst="rect">
            <a:avLst/>
          </a:prstGeom>
        </p:spPr>
      </p:pic>
      <p:pic>
        <p:nvPicPr>
          <p:cNvPr id="10" name="Picture 9">
            <a:extLst>
              <a:ext uri="{FF2B5EF4-FFF2-40B4-BE49-F238E27FC236}">
                <a16:creationId xmlns:a16="http://schemas.microsoft.com/office/drawing/2014/main" id="{454143C8-446D-3D80-EE55-F1EA0B46046E}"/>
              </a:ext>
            </a:extLst>
          </p:cNvPr>
          <p:cNvPicPr>
            <a:picLocks noChangeAspect="1"/>
          </p:cNvPicPr>
          <p:nvPr/>
        </p:nvPicPr>
        <p:blipFill>
          <a:blip r:embed="rId3"/>
          <a:stretch>
            <a:fillRect/>
          </a:stretch>
        </p:blipFill>
        <p:spPr>
          <a:xfrm>
            <a:off x="372979" y="1334452"/>
            <a:ext cx="4276725" cy="3305175"/>
          </a:xfrm>
          <a:prstGeom prst="rect">
            <a:avLst/>
          </a:prstGeom>
        </p:spPr>
      </p:pic>
    </p:spTree>
    <p:extLst>
      <p:ext uri="{BB962C8B-B14F-4D97-AF65-F5344CB8AC3E}">
        <p14:creationId xmlns:p14="http://schemas.microsoft.com/office/powerpoint/2010/main" val="4257973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4123-12F9-EDD8-E90D-363A7A907F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D0F5999-3CAB-40F2-EBB0-1BF257881838}"/>
              </a:ext>
            </a:extLst>
          </p:cNvPr>
          <p:cNvSpPr txBox="1"/>
          <p:nvPr/>
        </p:nvSpPr>
        <p:spPr>
          <a:xfrm>
            <a:off x="658146" y="510404"/>
            <a:ext cx="10875707" cy="400110"/>
          </a:xfrm>
          <a:prstGeom prst="rect">
            <a:avLst/>
          </a:prstGeom>
          <a:noFill/>
        </p:spPr>
        <p:txBody>
          <a:bodyPr wrap="square" rtlCol="0">
            <a:spAutoFit/>
          </a:bodyPr>
          <a:lstStyle/>
          <a:p>
            <a:r>
              <a:rPr lang="en-US" sz="2000" b="1" dirty="0">
                <a:latin typeface="Lucida Fax" panose="02060602050505020204" pitchFamily="18" charset="0"/>
              </a:rPr>
              <a:t>13. What is the global average GDP, emission, and population by year?</a:t>
            </a:r>
            <a:endParaRPr lang="en-IN" sz="2000" b="1" dirty="0">
              <a:latin typeface="Lucida Fax" panose="02060602050505020204" pitchFamily="18" charset="0"/>
            </a:endParaRPr>
          </a:p>
        </p:txBody>
      </p:sp>
      <p:pic>
        <p:nvPicPr>
          <p:cNvPr id="4" name="Picture 3">
            <a:extLst>
              <a:ext uri="{FF2B5EF4-FFF2-40B4-BE49-F238E27FC236}">
                <a16:creationId xmlns:a16="http://schemas.microsoft.com/office/drawing/2014/main" id="{5671904B-2D64-FEB5-EFA0-B4BED7E5A11A}"/>
              </a:ext>
            </a:extLst>
          </p:cNvPr>
          <p:cNvPicPr>
            <a:picLocks noChangeAspect="1"/>
          </p:cNvPicPr>
          <p:nvPr/>
        </p:nvPicPr>
        <p:blipFill>
          <a:blip r:embed="rId2"/>
          <a:srcRect t="10375" r="8408"/>
          <a:stretch>
            <a:fillRect/>
          </a:stretch>
        </p:blipFill>
        <p:spPr>
          <a:xfrm>
            <a:off x="372978" y="1266825"/>
            <a:ext cx="5723021" cy="3858628"/>
          </a:xfrm>
          <a:prstGeom prst="rect">
            <a:avLst/>
          </a:prstGeom>
        </p:spPr>
      </p:pic>
      <p:pic>
        <p:nvPicPr>
          <p:cNvPr id="6" name="Picture 5">
            <a:extLst>
              <a:ext uri="{FF2B5EF4-FFF2-40B4-BE49-F238E27FC236}">
                <a16:creationId xmlns:a16="http://schemas.microsoft.com/office/drawing/2014/main" id="{2FF3BE80-4F83-1967-D887-BC04BD3E2447}"/>
              </a:ext>
            </a:extLst>
          </p:cNvPr>
          <p:cNvPicPr>
            <a:picLocks noChangeAspect="1"/>
          </p:cNvPicPr>
          <p:nvPr/>
        </p:nvPicPr>
        <p:blipFill>
          <a:blip r:embed="rId3"/>
          <a:stretch>
            <a:fillRect/>
          </a:stretch>
        </p:blipFill>
        <p:spPr>
          <a:xfrm>
            <a:off x="3234488" y="3832434"/>
            <a:ext cx="8299365" cy="2247523"/>
          </a:xfrm>
          <a:prstGeom prst="rect">
            <a:avLst/>
          </a:prstGeom>
        </p:spPr>
      </p:pic>
    </p:spTree>
    <p:extLst>
      <p:ext uri="{BB962C8B-B14F-4D97-AF65-F5344CB8AC3E}">
        <p14:creationId xmlns:p14="http://schemas.microsoft.com/office/powerpoint/2010/main" val="3499540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8815"/>
          </a:xfrm>
        </p:spPr>
        <p:txBody>
          <a:bodyPr>
            <a:normAutofit fontScale="90000"/>
          </a:bodyPr>
          <a:lstStyle/>
          <a:p>
            <a:r>
              <a:rPr lang="en-IN" altLang="en-US" sz="4445" b="1" dirty="0">
                <a:solidFill>
                  <a:srgbClr val="FF0000"/>
                </a:solidFill>
                <a:latin typeface="Arial" panose="020B0604020202020204" pitchFamily="34" charset="0"/>
                <a:cs typeface="Arial" panose="020B0604020202020204" pitchFamily="34" charset="0"/>
              </a:rPr>
              <a:t>Business Key Insights</a:t>
            </a:r>
          </a:p>
        </p:txBody>
      </p:sp>
      <p:sp>
        <p:nvSpPr>
          <p:cNvPr id="5" name="Text Placeholder 4"/>
          <p:cNvSpPr>
            <a:spLocks noGrp="1"/>
          </p:cNvSpPr>
          <p:nvPr>
            <p:ph type="body" idx="1"/>
          </p:nvPr>
        </p:nvSpPr>
        <p:spPr>
          <a:xfrm>
            <a:off x="540645" y="1043940"/>
            <a:ext cx="10515600" cy="5229860"/>
          </a:xfrm>
        </p:spPr>
        <p:txBody>
          <a:bodyPr>
            <a:noAutofit/>
          </a:bodyPr>
          <a:lstStyle/>
          <a:p>
            <a:pPr>
              <a:lnSpc>
                <a:spcPct val="100000"/>
              </a:lnSpc>
            </a:pPr>
            <a:r>
              <a:rPr lang="en-US" sz="2000" b="1" dirty="0">
                <a:latin typeface="Lucida Fax" panose="02060602050505020204" pitchFamily="18" charset="0"/>
              </a:rPr>
              <a:t>Economic Growth Drives Energy Demand: </a:t>
            </a:r>
            <a:r>
              <a:rPr lang="en-US" sz="2000" dirty="0">
                <a:latin typeface="Lucida Fax" panose="02060602050505020204" pitchFamily="18" charset="0"/>
              </a:rPr>
              <a:t>Countries with higher GDP generally exhibit higher energy consumption. Rapidly developing economies tend to increase energy demand faster than mature economies.</a:t>
            </a:r>
          </a:p>
          <a:p>
            <a:pPr>
              <a:lnSpc>
                <a:spcPct val="100000"/>
              </a:lnSpc>
            </a:pPr>
            <a:r>
              <a:rPr lang="en-US" sz="2000" b="1" dirty="0">
                <a:latin typeface="Lucida Fax" panose="02060602050505020204" pitchFamily="18" charset="0"/>
              </a:rPr>
              <a:t>Fossil Fuels Remain Major Emission Contributors: </a:t>
            </a:r>
            <a:r>
              <a:rPr lang="en-US" sz="2000" dirty="0">
                <a:latin typeface="Lucida Fax" panose="02060602050505020204" pitchFamily="18" charset="0"/>
              </a:rPr>
              <a:t>Coal, oil, and natural gas contribute the largest share of emissions in most countries. Countries heavily dependent on fossil fuels typically have higher emission-to-GDP ratios.</a:t>
            </a:r>
            <a:endParaRPr lang="en-IN" sz="2000" dirty="0">
              <a:latin typeface="Lucida Fax" panose="02060602050505020204" pitchFamily="18" charset="0"/>
            </a:endParaRPr>
          </a:p>
          <a:p>
            <a:pPr>
              <a:lnSpc>
                <a:spcPct val="100000"/>
              </a:lnSpc>
            </a:pPr>
            <a:r>
              <a:rPr lang="en-US" sz="2000" b="1" dirty="0">
                <a:latin typeface="Lucida Fax" panose="02060602050505020204" pitchFamily="18" charset="0"/>
              </a:rPr>
              <a:t>Emission Efficiency Differs Across Countries: </a:t>
            </a:r>
            <a:r>
              <a:rPr lang="en-US" sz="2000" dirty="0">
                <a:latin typeface="Lucida Fax" panose="02060602050505020204" pitchFamily="18" charset="0"/>
              </a:rPr>
              <a:t>Countries with similar GDP levels can have vastly different emission levels. Lower emission-to-GDP ratios indicate better energy efficiency and cleaner energy adoption.</a:t>
            </a:r>
          </a:p>
          <a:p>
            <a:pPr>
              <a:lnSpc>
                <a:spcPct val="100000"/>
              </a:lnSpc>
            </a:pPr>
            <a:r>
              <a:rPr lang="en-US" sz="2000" b="1" dirty="0">
                <a:latin typeface="Lucida Fax" panose="02060602050505020204" pitchFamily="18" charset="0"/>
              </a:rPr>
              <a:t>Population Growth Influences Emissions: </a:t>
            </a:r>
            <a:r>
              <a:rPr lang="en-US" sz="2000" dirty="0">
                <a:latin typeface="Lucida Fax" panose="02060602050505020204" pitchFamily="18" charset="0"/>
              </a:rPr>
              <a:t>Countries with large populations contribute significantly to total energy consumption. Population growth often increases energy demand, leading to higher emissions unless renewable energy adoption improves.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93140" y="287655"/>
            <a:ext cx="10361930" cy="838835"/>
          </a:xfrm>
        </p:spPr>
        <p:txBody>
          <a:bodyPr>
            <a:normAutofit/>
          </a:bodyPr>
          <a:lstStyle/>
          <a:p>
            <a:r>
              <a:rPr lang="en-IN" altLang="en-US" sz="4000" b="1" dirty="0">
                <a:solidFill>
                  <a:srgbClr val="FF0000"/>
                </a:solidFill>
                <a:latin typeface="Arial" panose="020B0604020202020204" pitchFamily="34" charset="0"/>
                <a:cs typeface="Arial" panose="020B0604020202020204" pitchFamily="34" charset="0"/>
              </a:rPr>
              <a:t>Conclusion</a:t>
            </a:r>
          </a:p>
        </p:txBody>
      </p:sp>
      <p:sp>
        <p:nvSpPr>
          <p:cNvPr id="5" name="Text Placeholder 4"/>
          <p:cNvSpPr>
            <a:spLocks noGrp="1"/>
          </p:cNvSpPr>
          <p:nvPr>
            <p:ph type="body" idx="1"/>
          </p:nvPr>
        </p:nvSpPr>
        <p:spPr>
          <a:xfrm>
            <a:off x="523568" y="1126490"/>
            <a:ext cx="10515600" cy="4704715"/>
          </a:xfrm>
        </p:spPr>
        <p:txBody>
          <a:bodyPr>
            <a:normAutofit fontScale="92500" lnSpcReduction="10000"/>
          </a:bodyPr>
          <a:lstStyle/>
          <a:p>
            <a:pPr>
              <a:lnSpc>
                <a:spcPct val="150000"/>
              </a:lnSpc>
            </a:pPr>
            <a:r>
              <a:rPr lang="en-US" sz="2000" dirty="0">
                <a:latin typeface="Lucida Fax" panose="02060602050505020204" pitchFamily="18" charset="0"/>
              </a:rPr>
              <a:t>The analysis demonstrates that energy consumption, economic growth, and carbon emissions are closely interconnected. Countries experiencing strong economic and population growth generally exhibit increasing energy demand and higher emissions. </a:t>
            </a:r>
          </a:p>
          <a:p>
            <a:pPr>
              <a:lnSpc>
                <a:spcPct val="150000"/>
              </a:lnSpc>
            </a:pPr>
            <a:r>
              <a:rPr lang="en-US" sz="2000" dirty="0">
                <a:latin typeface="Lucida Fax" panose="02060602050505020204" pitchFamily="18" charset="0"/>
              </a:rPr>
              <a:t>By examining emission trends, per-capita metrics, GDP relationships, and production-consumption patterns, this project provides valuable insights into global energy dynamics. </a:t>
            </a:r>
          </a:p>
          <a:p>
            <a:pPr>
              <a:lnSpc>
                <a:spcPct val="150000"/>
              </a:lnSpc>
            </a:pPr>
            <a:r>
              <a:rPr lang="en-US" sz="2000" dirty="0">
                <a:latin typeface="Lucida Fax" panose="02060602050505020204" pitchFamily="18" charset="0"/>
              </a:rPr>
              <a:t>The findings can help policymakers, energy planners, and environmental organizations make informed decisions regarding sustainable energy development, carbon reduction strategies, and long-term energy security.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857250"/>
          </a:xfrm>
        </p:spPr>
        <p:txBody>
          <a:bodyPr/>
          <a:lstStyle/>
          <a:p>
            <a:r>
              <a:rPr lang="en-IN" altLang="en-US" sz="4000" b="1" dirty="0">
                <a:solidFill>
                  <a:srgbClr val="FF0000"/>
                </a:solidFill>
                <a:latin typeface="Arial" panose="020B0604020202020204" pitchFamily="34" charset="0"/>
                <a:cs typeface="Arial" panose="020B0604020202020204" pitchFamily="34" charset="0"/>
              </a:rPr>
              <a:t>Recommendations</a:t>
            </a:r>
          </a:p>
        </p:txBody>
      </p:sp>
      <p:sp>
        <p:nvSpPr>
          <p:cNvPr id="2" name="Text Placeholder 1">
            <a:extLst>
              <a:ext uri="{FF2B5EF4-FFF2-40B4-BE49-F238E27FC236}">
                <a16:creationId xmlns:a16="http://schemas.microsoft.com/office/drawing/2014/main" id="{8C95C505-B8FC-FB03-5895-E2E3C960CDB7}"/>
              </a:ext>
            </a:extLst>
          </p:cNvPr>
          <p:cNvSpPr>
            <a:spLocks noGrp="1" noChangeArrowheads="1"/>
          </p:cNvSpPr>
          <p:nvPr>
            <p:ph type="body" idx="1"/>
          </p:nvPr>
        </p:nvSpPr>
        <p:spPr bwMode="auto">
          <a:xfrm>
            <a:off x="503238" y="1894090"/>
            <a:ext cx="10515600" cy="383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Lucida Fax" panose="02060602050505020204" pitchFamily="18" charset="0"/>
              </a:rPr>
              <a:t>Promote Renewable Energy</a:t>
            </a:r>
            <a:r>
              <a:rPr lang="en-US" altLang="en-US" sz="1800" dirty="0">
                <a:solidFill>
                  <a:schemeClr val="tx1"/>
                </a:solidFill>
                <a:latin typeface="Lucida Fax" panose="02060602050505020204" pitchFamily="18" charset="0"/>
              </a:rPr>
              <a:t>: </a:t>
            </a:r>
            <a:r>
              <a:rPr kumimoji="0" lang="en-US" altLang="en-US" sz="1800" b="0" i="0" u="none" strike="noStrike" cap="none" normalizeH="0" baseline="0" dirty="0">
                <a:ln>
                  <a:noFill/>
                </a:ln>
                <a:solidFill>
                  <a:schemeClr val="tx1"/>
                </a:solidFill>
                <a:effectLst/>
                <a:latin typeface="Lucida Fax" panose="02060602050505020204" pitchFamily="18" charset="0"/>
              </a:rPr>
              <a:t>Encourage the use of solar, wind, and other clean energy sources to reduce carbon emissions. </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Lucida Fax" panose="0206060205050502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Lucida Fax" panose="02060602050505020204" pitchFamily="18" charset="0"/>
              </a:rPr>
              <a:t>Improve Energy Efficiency</a:t>
            </a:r>
            <a:r>
              <a:rPr kumimoji="0" lang="en-US" altLang="en-US" sz="1800" b="0" i="0" u="none" strike="noStrike" cap="none" normalizeH="0" baseline="0" dirty="0">
                <a:ln>
                  <a:noFill/>
                </a:ln>
                <a:solidFill>
                  <a:schemeClr val="tx1"/>
                </a:solidFill>
                <a:effectLst/>
                <a:latin typeface="Lucida Fax" panose="02060602050505020204" pitchFamily="18" charset="0"/>
              </a:rPr>
              <a:t>: Use energy-efficient technologies and practices to reduce energy consumption without affecting economic growth. </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Lucida Fax" panose="0206060205050502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Lucida Fax" panose="02060602050505020204" pitchFamily="18" charset="0"/>
              </a:rPr>
              <a:t>Use Data for Better Planning:</a:t>
            </a:r>
            <a:r>
              <a:rPr kumimoji="0" lang="en-US" altLang="en-US" sz="1800" b="0" i="0" u="none" strike="noStrike" cap="none" normalizeH="0" baseline="0" dirty="0">
                <a:ln>
                  <a:noFill/>
                </a:ln>
                <a:solidFill>
                  <a:schemeClr val="tx1"/>
                </a:solidFill>
                <a:effectLst/>
                <a:latin typeface="Lucida Fax" panose="02060602050505020204" pitchFamily="18" charset="0"/>
              </a:rPr>
              <a:t> Regularly analyze energy, GDP, population, and emission trends to make informed energy and environmental decisions.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Lucida Fax" panose="020606020505050202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76945B-0BE0-2F0C-14FE-99C4EDB48295}"/>
              </a:ext>
            </a:extLst>
          </p:cNvPr>
          <p:cNvPicPr>
            <a:picLocks noChangeAspect="1"/>
          </p:cNvPicPr>
          <p:nvPr/>
        </p:nvPicPr>
        <p:blipFill>
          <a:blip r:embed="rId2"/>
          <a:stretch>
            <a:fillRect/>
          </a:stretch>
        </p:blipFill>
        <p:spPr>
          <a:xfrm>
            <a:off x="1007806" y="650896"/>
            <a:ext cx="10176387" cy="511363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400" b="0" i="0" u="none" strike="noStrike" cap="none" dirty="0">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4765</TotalTime>
  <Words>990</Words>
  <Application>Microsoft Office PowerPoint</Application>
  <PresentationFormat>Widescreen</PresentationFormat>
  <Paragraphs>88</Paragraphs>
  <Slides>26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Calibri</vt:lpstr>
      <vt:lpstr>Arial</vt:lpstr>
      <vt:lpstr>Lucida Fax</vt:lpstr>
      <vt:lpstr>Libre Baskerville</vt:lpstr>
      <vt:lpstr>Office Theme</vt:lpstr>
      <vt:lpstr>PowerPoint Presentation</vt:lpstr>
      <vt:lpstr>About me</vt:lpstr>
      <vt:lpstr>Agenda </vt:lpstr>
      <vt:lpstr>Business Problem</vt:lpstr>
      <vt:lpstr>Problem Statement</vt:lpstr>
      <vt:lpstr>Introduction</vt:lpstr>
      <vt:lpstr>ER Diagram and Schema Explanation</vt:lpstr>
      <vt:lpstr>SQL Queries 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Business Key Insights</vt:lpstr>
      <vt:lpstr>Conclusion</vt:lpstr>
      <vt:lpstr>Recommendations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Venkata Srikar</cp:lastModifiedBy>
  <cp:revision>23</cp:revision>
  <dcterms:created xsi:type="dcterms:W3CDTF">2026-06-09T10:29:00Z</dcterms:created>
  <dcterms:modified xsi:type="dcterms:W3CDTF">2026-06-15T04:37:57Z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C09BEBDBC0EC493C92EB0CF13BD90C45_13</vt:lpwstr>
  </property>
</Properties>
</file>